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66" r:id="rId4"/>
    <p:sldId id="276" r:id="rId5"/>
    <p:sldId id="258" r:id="rId6"/>
    <p:sldId id="259" r:id="rId7"/>
    <p:sldId id="268" r:id="rId8"/>
    <p:sldId id="260" r:id="rId9"/>
    <p:sldId id="269" r:id="rId10"/>
    <p:sldId id="270" r:id="rId11"/>
    <p:sldId id="272" r:id="rId12"/>
    <p:sldId id="273" r:id="rId13"/>
    <p:sldId id="274" r:id="rId14"/>
    <p:sldId id="277" r:id="rId15"/>
    <p:sldId id="261" r:id="rId16"/>
    <p:sldId id="267" r:id="rId17"/>
    <p:sldId id="275" r:id="rId18"/>
    <p:sldId id="278" r:id="rId19"/>
    <p:sldId id="262" r:id="rId20"/>
  </p:sldIdLst>
  <p:sldSz cx="9144000" cy="5143500" type="screen16x9"/>
  <p:notesSz cx="6858000" cy="9144000"/>
  <p:embeddedFontLst>
    <p:embeddedFont>
      <p:font typeface="Montserrat" panose="00000500000000000000" pitchFamily="2" charset="0"/>
      <p:regular r:id="rId22"/>
      <p:bold r:id="rId23"/>
      <p:italic r:id="rId24"/>
      <p:boldItalic r:id="rId25"/>
    </p:embeddedFont>
    <p:embeddedFont>
      <p:font typeface="Wingdings 3" panose="05040102010807070707" pitchFamily="18" charset="2"/>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77">
          <p15:clr>
            <a:srgbClr val="A4A3A4"/>
          </p15:clr>
        </p15:guide>
        <p15:guide id="2" pos="2721">
          <p15:clr>
            <a:srgbClr val="A4A3A4"/>
          </p15:clr>
        </p15:guide>
        <p15:guide id="3" pos="2438">
          <p15:clr>
            <a:srgbClr val="9AA0A6"/>
          </p15:clr>
        </p15:guide>
        <p15:guide id="4" pos="416">
          <p15:clr>
            <a:srgbClr val="9AA0A6"/>
          </p15:clr>
        </p15:guide>
        <p15:guide id="5" pos="1191">
          <p15:clr>
            <a:srgbClr val="9AA0A6"/>
          </p15:clr>
        </p15:guide>
        <p15:guide id="6" pos="638">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iohyEog1akfKJRRdWquyApPmpA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08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C89007-E614-4F89-A4A7-F0FB31E5B344}" v="103" dt="2026-03-10T15:56:10.3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051" autoAdjust="0"/>
  </p:normalViewPr>
  <p:slideViewPr>
    <p:cSldViewPr snapToGrid="0">
      <p:cViewPr varScale="1">
        <p:scale>
          <a:sx n="80" d="100"/>
          <a:sy n="80" d="100"/>
        </p:scale>
        <p:origin x="1522" y="288"/>
      </p:cViewPr>
      <p:guideLst>
        <p:guide orient="horz" pos="1077"/>
        <p:guide pos="2721"/>
        <p:guide pos="2438"/>
        <p:guide pos="416"/>
        <p:guide pos="1191"/>
        <p:guide pos="6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customschemas.google.com/relationships/presentationmetadata" Target="meta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BLONDEL" userId="a3575c96e836792c" providerId="LiveId" clId="{AE483778-69BE-44E9-9C44-2EA3DB48A544}"/>
    <pc:docChg chg="undo redo custSel addSld modSld sldOrd">
      <pc:chgData name="Sarah BLONDEL" userId="a3575c96e836792c" providerId="LiveId" clId="{AE483778-69BE-44E9-9C44-2EA3DB48A544}" dt="2026-03-11T12:41:13.966" v="2606" actId="20577"/>
      <pc:docMkLst>
        <pc:docMk/>
      </pc:docMkLst>
      <pc:sldChg chg="modSp mod">
        <pc:chgData name="Sarah BLONDEL" userId="a3575c96e836792c" providerId="LiveId" clId="{AE483778-69BE-44E9-9C44-2EA3DB48A544}" dt="2026-03-09T19:10:29.874" v="636" actId="14100"/>
        <pc:sldMkLst>
          <pc:docMk/>
          <pc:sldMk cId="0" sldId="256"/>
        </pc:sldMkLst>
        <pc:picChg chg="mod">
          <ac:chgData name="Sarah BLONDEL" userId="a3575c96e836792c" providerId="LiveId" clId="{AE483778-69BE-44E9-9C44-2EA3DB48A544}" dt="2026-03-09T19:10:29.874" v="636" actId="14100"/>
          <ac:picMkLst>
            <pc:docMk/>
            <pc:sldMk cId="0" sldId="256"/>
            <ac:picMk id="3" creationId="{EDB0C5E4-30E1-1A82-4D4F-15940AB2656B}"/>
          </ac:picMkLst>
        </pc:picChg>
      </pc:sldChg>
      <pc:sldChg chg="addSp delSp modSp mod">
        <pc:chgData name="Sarah BLONDEL" userId="a3575c96e836792c" providerId="LiveId" clId="{AE483778-69BE-44E9-9C44-2EA3DB48A544}" dt="2026-03-09T19:11:17.333" v="648" actId="1076"/>
        <pc:sldMkLst>
          <pc:docMk/>
          <pc:sldMk cId="0" sldId="257"/>
        </pc:sldMkLst>
        <pc:spChg chg="mod">
          <ac:chgData name="Sarah BLONDEL" userId="a3575c96e836792c" providerId="LiveId" clId="{AE483778-69BE-44E9-9C44-2EA3DB48A544}" dt="2026-03-09T19:10:57.770" v="643" actId="122"/>
          <ac:spMkLst>
            <pc:docMk/>
            <pc:sldMk cId="0" sldId="257"/>
            <ac:spMk id="63" creationId="{00000000-0000-0000-0000-000000000000}"/>
          </ac:spMkLst>
        </pc:spChg>
        <pc:spChg chg="mod">
          <ac:chgData name="Sarah BLONDEL" userId="a3575c96e836792c" providerId="LiveId" clId="{AE483778-69BE-44E9-9C44-2EA3DB48A544}" dt="2026-03-09T18:58:59.613" v="556" actId="122"/>
          <ac:spMkLst>
            <pc:docMk/>
            <pc:sldMk cId="0" sldId="257"/>
            <ac:spMk id="65" creationId="{00000000-0000-0000-0000-000000000000}"/>
          </ac:spMkLst>
        </pc:spChg>
        <pc:picChg chg="mod">
          <ac:chgData name="Sarah BLONDEL" userId="a3575c96e836792c" providerId="LiveId" clId="{AE483778-69BE-44E9-9C44-2EA3DB48A544}" dt="2026-03-09T19:11:17.333" v="648" actId="1076"/>
          <ac:picMkLst>
            <pc:docMk/>
            <pc:sldMk cId="0" sldId="257"/>
            <ac:picMk id="2" creationId="{964DBF31-3777-7096-E952-1020A250B693}"/>
          </ac:picMkLst>
        </pc:picChg>
        <pc:picChg chg="add mod">
          <ac:chgData name="Sarah BLONDEL" userId="a3575c96e836792c" providerId="LiveId" clId="{AE483778-69BE-44E9-9C44-2EA3DB48A544}" dt="2026-03-09T18:47:19.557" v="504" actId="1076"/>
          <ac:picMkLst>
            <pc:docMk/>
            <pc:sldMk cId="0" sldId="257"/>
            <ac:picMk id="15" creationId="{D66ACB50-2D7E-E0BB-6581-2EFE37B7B95C}"/>
          </ac:picMkLst>
        </pc:picChg>
      </pc:sldChg>
      <pc:sldChg chg="addSp delSp modSp mod ord">
        <pc:chgData name="Sarah BLONDEL" userId="a3575c96e836792c" providerId="LiveId" clId="{AE483778-69BE-44E9-9C44-2EA3DB48A544}" dt="2026-03-09T20:16:07.217" v="1233" actId="1076"/>
        <pc:sldMkLst>
          <pc:docMk/>
          <pc:sldMk cId="0" sldId="258"/>
        </pc:sldMkLst>
        <pc:spChg chg="mod">
          <ac:chgData name="Sarah BLONDEL" userId="a3575c96e836792c" providerId="LiveId" clId="{AE483778-69BE-44E9-9C44-2EA3DB48A544}" dt="2026-03-09T18:58:28.699" v="545" actId="14100"/>
          <ac:spMkLst>
            <pc:docMk/>
            <pc:sldMk cId="0" sldId="258"/>
            <ac:spMk id="72" creationId="{00000000-0000-0000-0000-000000000000}"/>
          </ac:spMkLst>
        </pc:spChg>
        <pc:spChg chg="mod">
          <ac:chgData name="Sarah BLONDEL" userId="a3575c96e836792c" providerId="LiveId" clId="{AE483778-69BE-44E9-9C44-2EA3DB48A544}" dt="2026-03-09T18:58:43.720" v="549" actId="122"/>
          <ac:spMkLst>
            <pc:docMk/>
            <pc:sldMk cId="0" sldId="258"/>
            <ac:spMk id="73" creationId="{00000000-0000-0000-0000-000000000000}"/>
          </ac:spMkLst>
        </pc:spChg>
        <pc:picChg chg="mod">
          <ac:chgData name="Sarah BLONDEL" userId="a3575c96e836792c" providerId="LiveId" clId="{AE483778-69BE-44E9-9C44-2EA3DB48A544}" dt="2026-03-09T20:16:07.217" v="1233" actId="1076"/>
          <ac:picMkLst>
            <pc:docMk/>
            <pc:sldMk cId="0" sldId="258"/>
            <ac:picMk id="2" creationId="{1A7EC183-AD46-ED3B-3743-17ECEC81066B}"/>
          </ac:picMkLst>
        </pc:picChg>
        <pc:picChg chg="add mod">
          <ac:chgData name="Sarah BLONDEL" userId="a3575c96e836792c" providerId="LiveId" clId="{AE483778-69BE-44E9-9C44-2EA3DB48A544}" dt="2026-03-09T20:16:01.937" v="1232" actId="1076"/>
          <ac:picMkLst>
            <pc:docMk/>
            <pc:sldMk cId="0" sldId="258"/>
            <ac:picMk id="4" creationId="{5E836644-D0BF-F606-363E-BF0FDC5E3195}"/>
          </ac:picMkLst>
        </pc:picChg>
        <pc:picChg chg="add mod">
          <ac:chgData name="Sarah BLONDEL" userId="a3575c96e836792c" providerId="LiveId" clId="{AE483778-69BE-44E9-9C44-2EA3DB48A544}" dt="2026-03-09T20:15:58.973" v="1231" actId="14100"/>
          <ac:picMkLst>
            <pc:docMk/>
            <pc:sldMk cId="0" sldId="258"/>
            <ac:picMk id="7" creationId="{B330AFF0-2B84-F860-C097-610E4C59BD0B}"/>
          </ac:picMkLst>
        </pc:picChg>
      </pc:sldChg>
      <pc:sldChg chg="addSp delSp modSp mod">
        <pc:chgData name="Sarah BLONDEL" userId="a3575c96e836792c" providerId="LiveId" clId="{AE483778-69BE-44E9-9C44-2EA3DB48A544}" dt="2026-03-11T12:41:13.966" v="2606" actId="20577"/>
        <pc:sldMkLst>
          <pc:docMk/>
          <pc:sldMk cId="0" sldId="259"/>
        </pc:sldMkLst>
        <pc:spChg chg="add del mod">
          <ac:chgData name="Sarah BLONDEL" userId="a3575c96e836792c" providerId="LiveId" clId="{AE483778-69BE-44E9-9C44-2EA3DB48A544}" dt="2026-03-10T14:22:26.962" v="2429" actId="478"/>
          <ac:spMkLst>
            <pc:docMk/>
            <pc:sldMk cId="0" sldId="259"/>
            <ac:spMk id="3" creationId="{F7A87AE1-1364-3D3B-619B-222B848E436B}"/>
          </ac:spMkLst>
        </pc:spChg>
        <pc:spChg chg="add del mod">
          <ac:chgData name="Sarah BLONDEL" userId="a3575c96e836792c" providerId="LiveId" clId="{AE483778-69BE-44E9-9C44-2EA3DB48A544}" dt="2026-03-10T14:22:55.174" v="2432" actId="478"/>
          <ac:spMkLst>
            <pc:docMk/>
            <pc:sldMk cId="0" sldId="259"/>
            <ac:spMk id="4" creationId="{C83BE588-1902-E4F6-493D-86B1B57BD8B8}"/>
          </ac:spMkLst>
        </pc:spChg>
        <pc:spChg chg="add mod">
          <ac:chgData name="Sarah BLONDEL" userId="a3575c96e836792c" providerId="LiveId" clId="{AE483778-69BE-44E9-9C44-2EA3DB48A544}" dt="2026-03-10T14:22:10.118" v="2426"/>
          <ac:spMkLst>
            <pc:docMk/>
            <pc:sldMk cId="0" sldId="259"/>
            <ac:spMk id="5" creationId="{2D70E6BA-8E8C-F471-D615-E15B52023FB4}"/>
          </ac:spMkLst>
        </pc:spChg>
        <pc:spChg chg="mod">
          <ac:chgData name="Sarah BLONDEL" userId="a3575c96e836792c" providerId="LiveId" clId="{AE483778-69BE-44E9-9C44-2EA3DB48A544}" dt="2026-03-11T12:41:13.966" v="2606" actId="20577"/>
          <ac:spMkLst>
            <pc:docMk/>
            <pc:sldMk cId="0" sldId="259"/>
            <ac:spMk id="79" creationId="{00000000-0000-0000-0000-000000000000}"/>
          </ac:spMkLst>
        </pc:spChg>
      </pc:sldChg>
      <pc:sldChg chg="addSp delSp modSp mod">
        <pc:chgData name="Sarah BLONDEL" userId="a3575c96e836792c" providerId="LiveId" clId="{AE483778-69BE-44E9-9C44-2EA3DB48A544}" dt="2026-03-10T14:33:04.920" v="2587" actId="478"/>
        <pc:sldMkLst>
          <pc:docMk/>
          <pc:sldMk cId="0" sldId="260"/>
        </pc:sldMkLst>
        <pc:spChg chg="add del mod">
          <ac:chgData name="Sarah BLONDEL" userId="a3575c96e836792c" providerId="LiveId" clId="{AE483778-69BE-44E9-9C44-2EA3DB48A544}" dt="2026-03-10T14:33:04.920" v="2587" actId="478"/>
          <ac:spMkLst>
            <pc:docMk/>
            <pc:sldMk cId="0" sldId="260"/>
            <ac:spMk id="3" creationId="{124598CE-B4B1-717E-8879-2084FC11A1B5}"/>
          </ac:spMkLst>
        </pc:spChg>
        <pc:spChg chg="add mod">
          <ac:chgData name="Sarah BLONDEL" userId="a3575c96e836792c" providerId="LiveId" clId="{AE483778-69BE-44E9-9C44-2EA3DB48A544}" dt="2026-03-09T20:36:52.730" v="1676" actId="1076"/>
          <ac:spMkLst>
            <pc:docMk/>
            <pc:sldMk cId="0" sldId="260"/>
            <ac:spMk id="11" creationId="{4FB9EC88-313C-BE55-8AF2-D9245CAE210A}"/>
          </ac:spMkLst>
        </pc:spChg>
        <pc:spChg chg="mod">
          <ac:chgData name="Sarah BLONDEL" userId="a3575c96e836792c" providerId="LiveId" clId="{AE483778-69BE-44E9-9C44-2EA3DB48A544}" dt="2026-03-09T20:29:51.508" v="1578" actId="20577"/>
          <ac:spMkLst>
            <pc:docMk/>
            <pc:sldMk cId="0" sldId="260"/>
            <ac:spMk id="90" creationId="{00000000-0000-0000-0000-000000000000}"/>
          </ac:spMkLst>
        </pc:spChg>
        <pc:picChg chg="add mod">
          <ac:chgData name="Sarah BLONDEL" userId="a3575c96e836792c" providerId="LiveId" clId="{AE483778-69BE-44E9-9C44-2EA3DB48A544}" dt="2026-03-09T20:31:30.192" v="1587" actId="1076"/>
          <ac:picMkLst>
            <pc:docMk/>
            <pc:sldMk cId="0" sldId="260"/>
            <ac:picMk id="4" creationId="{7E46A08D-08F0-A285-EC68-E9A248B8021E}"/>
          </ac:picMkLst>
        </pc:picChg>
        <pc:picChg chg="add mod">
          <ac:chgData name="Sarah BLONDEL" userId="a3575c96e836792c" providerId="LiveId" clId="{AE483778-69BE-44E9-9C44-2EA3DB48A544}" dt="2026-03-09T20:31:41.771" v="1590" actId="1076"/>
          <ac:picMkLst>
            <pc:docMk/>
            <pc:sldMk cId="0" sldId="260"/>
            <ac:picMk id="8" creationId="{E72CF1BF-8FBD-ABF1-9CDA-0BBAC5591873}"/>
          </ac:picMkLst>
        </pc:picChg>
        <pc:picChg chg="add mod">
          <ac:chgData name="Sarah BLONDEL" userId="a3575c96e836792c" providerId="LiveId" clId="{AE483778-69BE-44E9-9C44-2EA3DB48A544}" dt="2026-03-09T20:31:33.884" v="1588" actId="1076"/>
          <ac:picMkLst>
            <pc:docMk/>
            <pc:sldMk cId="0" sldId="260"/>
            <ac:picMk id="10" creationId="{C0B017A3-716D-B52E-9987-F82155EF9BF6}"/>
          </ac:picMkLst>
        </pc:picChg>
        <pc:cxnChg chg="add mod">
          <ac:chgData name="Sarah BLONDEL" userId="a3575c96e836792c" providerId="LiveId" clId="{AE483778-69BE-44E9-9C44-2EA3DB48A544}" dt="2026-03-09T20:30:49.973" v="1582" actId="208"/>
          <ac:cxnSpMkLst>
            <pc:docMk/>
            <pc:sldMk cId="0" sldId="260"/>
            <ac:cxnSpMk id="6" creationId="{24F98CEE-B994-1DD4-D1C0-B9BA9CE3E7D0}"/>
          </ac:cxnSpMkLst>
        </pc:cxnChg>
      </pc:sldChg>
      <pc:sldChg chg="modSp mod">
        <pc:chgData name="Sarah BLONDEL" userId="a3575c96e836792c" providerId="LiveId" clId="{AE483778-69BE-44E9-9C44-2EA3DB48A544}" dt="2026-03-09T20:50:24.683" v="1727" actId="12"/>
        <pc:sldMkLst>
          <pc:docMk/>
          <pc:sldMk cId="0" sldId="261"/>
        </pc:sldMkLst>
        <pc:spChg chg="mod">
          <ac:chgData name="Sarah BLONDEL" userId="a3575c96e836792c" providerId="LiveId" clId="{AE483778-69BE-44E9-9C44-2EA3DB48A544}" dt="2026-03-09T20:50:24.683" v="1727" actId="12"/>
          <ac:spMkLst>
            <pc:docMk/>
            <pc:sldMk cId="0" sldId="261"/>
            <ac:spMk id="2" creationId="{E3BF7349-AEBE-EC76-A244-9F9F2B7166D3}"/>
          </ac:spMkLst>
        </pc:spChg>
      </pc:sldChg>
      <pc:sldChg chg="modSp mod">
        <pc:chgData name="Sarah BLONDEL" userId="a3575c96e836792c" providerId="LiveId" clId="{AE483778-69BE-44E9-9C44-2EA3DB48A544}" dt="2026-03-10T13:34:39.477" v="2416" actId="27636"/>
        <pc:sldMkLst>
          <pc:docMk/>
          <pc:sldMk cId="0" sldId="262"/>
        </pc:sldMkLst>
        <pc:spChg chg="mod">
          <ac:chgData name="Sarah BLONDEL" userId="a3575c96e836792c" providerId="LiveId" clId="{AE483778-69BE-44E9-9C44-2EA3DB48A544}" dt="2026-03-10T13:34:39.477" v="2416" actId="27636"/>
          <ac:spMkLst>
            <pc:docMk/>
            <pc:sldMk cId="0" sldId="262"/>
            <ac:spMk id="106" creationId="{00000000-0000-0000-0000-000000000000}"/>
          </ac:spMkLst>
        </pc:spChg>
      </pc:sldChg>
      <pc:sldChg chg="addSp delSp modSp mod ord">
        <pc:chgData name="Sarah BLONDEL" userId="a3575c96e836792c" providerId="LiveId" clId="{AE483778-69BE-44E9-9C44-2EA3DB48A544}" dt="2026-03-09T20:24:57.224" v="1512" actId="1076"/>
        <pc:sldMkLst>
          <pc:docMk/>
          <pc:sldMk cId="1922001834" sldId="266"/>
        </pc:sldMkLst>
        <pc:spChg chg="add mod">
          <ac:chgData name="Sarah BLONDEL" userId="a3575c96e836792c" providerId="LiveId" clId="{AE483778-69BE-44E9-9C44-2EA3DB48A544}" dt="2026-03-09T19:56:25.123" v="1105" actId="1076"/>
          <ac:spMkLst>
            <pc:docMk/>
            <pc:sldMk cId="1922001834" sldId="266"/>
            <ac:spMk id="8" creationId="{8248EDB1-7D74-D98A-E8A3-76D6043F3EF1}"/>
          </ac:spMkLst>
        </pc:spChg>
        <pc:spChg chg="add mod">
          <ac:chgData name="Sarah BLONDEL" userId="a3575c96e836792c" providerId="LiveId" clId="{AE483778-69BE-44E9-9C44-2EA3DB48A544}" dt="2026-03-09T19:56:19.163" v="1104" actId="1076"/>
          <ac:spMkLst>
            <pc:docMk/>
            <pc:sldMk cId="1922001834" sldId="266"/>
            <ac:spMk id="9" creationId="{E51AD9B6-B0F8-91D3-DE77-8EC1D03F6C05}"/>
          </ac:spMkLst>
        </pc:spChg>
        <pc:spChg chg="add mod">
          <ac:chgData name="Sarah BLONDEL" userId="a3575c96e836792c" providerId="LiveId" clId="{AE483778-69BE-44E9-9C44-2EA3DB48A544}" dt="2026-03-09T19:56:09.065" v="1101" actId="122"/>
          <ac:spMkLst>
            <pc:docMk/>
            <pc:sldMk cId="1922001834" sldId="266"/>
            <ac:spMk id="12" creationId="{ACDEE081-ABA6-610E-7072-20FE5FC74129}"/>
          </ac:spMkLst>
        </pc:spChg>
        <pc:spChg chg="add mod">
          <ac:chgData name="Sarah BLONDEL" userId="a3575c96e836792c" providerId="LiveId" clId="{AE483778-69BE-44E9-9C44-2EA3DB48A544}" dt="2026-03-09T20:24:52.162" v="1510" actId="1076"/>
          <ac:spMkLst>
            <pc:docMk/>
            <pc:sldMk cId="1922001834" sldId="266"/>
            <ac:spMk id="13" creationId="{8BFCD29B-D948-AC63-18AF-BDF884B24155}"/>
          </ac:spMkLst>
        </pc:spChg>
        <pc:spChg chg="mod">
          <ac:chgData name="Sarah BLONDEL" userId="a3575c96e836792c" providerId="LiveId" clId="{AE483778-69BE-44E9-9C44-2EA3DB48A544}" dt="2026-03-09T19:57:42.100" v="1140" actId="1076"/>
          <ac:spMkLst>
            <pc:docMk/>
            <pc:sldMk cId="1922001834" sldId="266"/>
            <ac:spMk id="71" creationId="{C342E86B-C9BC-0EA3-6BF9-A9DEDD760E1B}"/>
          </ac:spMkLst>
        </pc:spChg>
        <pc:spChg chg="mod">
          <ac:chgData name="Sarah BLONDEL" userId="a3575c96e836792c" providerId="LiveId" clId="{AE483778-69BE-44E9-9C44-2EA3DB48A544}" dt="2026-03-09T19:08:25.086" v="608" actId="14100"/>
          <ac:spMkLst>
            <pc:docMk/>
            <pc:sldMk cId="1922001834" sldId="266"/>
            <ac:spMk id="72" creationId="{ABD9799C-ABD6-1B7F-E24E-61DDF833E402}"/>
          </ac:spMkLst>
        </pc:spChg>
        <pc:spChg chg="mod">
          <ac:chgData name="Sarah BLONDEL" userId="a3575c96e836792c" providerId="LiveId" clId="{AE483778-69BE-44E9-9C44-2EA3DB48A544}" dt="2026-03-09T19:08:27.856" v="609" actId="122"/>
          <ac:spMkLst>
            <pc:docMk/>
            <pc:sldMk cId="1922001834" sldId="266"/>
            <ac:spMk id="73" creationId="{BFDBBC2F-6DAF-B65C-D4F8-9655BB0AD49B}"/>
          </ac:spMkLst>
        </pc:spChg>
        <pc:picChg chg="mod">
          <ac:chgData name="Sarah BLONDEL" userId="a3575c96e836792c" providerId="LiveId" clId="{AE483778-69BE-44E9-9C44-2EA3DB48A544}" dt="2026-03-09T19:57:31.577" v="1139" actId="1076"/>
          <ac:picMkLst>
            <pc:docMk/>
            <pc:sldMk cId="1922001834" sldId="266"/>
            <ac:picMk id="2" creationId="{F2A0C549-9819-4E63-26B8-737F614E5E81}"/>
          </ac:picMkLst>
        </pc:picChg>
        <pc:picChg chg="add mod">
          <ac:chgData name="Sarah BLONDEL" userId="a3575c96e836792c" providerId="LiveId" clId="{AE483778-69BE-44E9-9C44-2EA3DB48A544}" dt="2026-03-09T19:56:16.102" v="1103" actId="1076"/>
          <ac:picMkLst>
            <pc:docMk/>
            <pc:sldMk cId="1922001834" sldId="266"/>
            <ac:picMk id="5" creationId="{E003338B-509C-AFED-5D5E-41909328F0A8}"/>
          </ac:picMkLst>
        </pc:picChg>
        <pc:picChg chg="add mod modCrop">
          <ac:chgData name="Sarah BLONDEL" userId="a3575c96e836792c" providerId="LiveId" clId="{AE483778-69BE-44E9-9C44-2EA3DB48A544}" dt="2026-03-09T19:56:12.249" v="1102" actId="1076"/>
          <ac:picMkLst>
            <pc:docMk/>
            <pc:sldMk cId="1922001834" sldId="266"/>
            <ac:picMk id="11" creationId="{4EE95D0E-BC70-1E21-F7FF-C490CA7CFA43}"/>
          </ac:picMkLst>
        </pc:picChg>
        <pc:picChg chg="add mod">
          <ac:chgData name="Sarah BLONDEL" userId="a3575c96e836792c" providerId="LiveId" clId="{AE483778-69BE-44E9-9C44-2EA3DB48A544}" dt="2026-03-09T20:24:57.224" v="1512" actId="1076"/>
          <ac:picMkLst>
            <pc:docMk/>
            <pc:sldMk cId="1922001834" sldId="266"/>
            <ac:picMk id="24" creationId="{DEA91E39-0283-0588-0763-03D54526749B}"/>
          </ac:picMkLst>
        </pc:picChg>
        <pc:picChg chg="add mod">
          <ac:chgData name="Sarah BLONDEL" userId="a3575c96e836792c" providerId="LiveId" clId="{AE483778-69BE-44E9-9C44-2EA3DB48A544}" dt="2026-03-09T20:24:54.658" v="1511" actId="1076"/>
          <ac:picMkLst>
            <pc:docMk/>
            <pc:sldMk cId="1922001834" sldId="266"/>
            <ac:picMk id="1026" creationId="{1DE1F2D0-1A98-A00B-B3EA-E2A9FA514E6E}"/>
          </ac:picMkLst>
        </pc:picChg>
      </pc:sldChg>
      <pc:sldChg chg="addSp delSp modSp mod ord">
        <pc:chgData name="Sarah BLONDEL" userId="a3575c96e836792c" providerId="LiveId" clId="{AE483778-69BE-44E9-9C44-2EA3DB48A544}" dt="2026-03-10T15:50:38.999" v="2603"/>
        <pc:sldMkLst>
          <pc:docMk/>
          <pc:sldMk cId="1266595008" sldId="267"/>
        </pc:sldMkLst>
        <pc:spChg chg="mod">
          <ac:chgData name="Sarah BLONDEL" userId="a3575c96e836792c" providerId="LiveId" clId="{AE483778-69BE-44E9-9C44-2EA3DB48A544}" dt="2026-03-09T20:52:15.427" v="1760" actId="20577"/>
          <ac:spMkLst>
            <pc:docMk/>
            <pc:sldMk cId="1266595008" sldId="267"/>
            <ac:spMk id="71" creationId="{3143E5DB-89F2-C37D-C0C4-EC8E5C7412B0}"/>
          </ac:spMkLst>
        </pc:spChg>
        <pc:picChg chg="add mod">
          <ac:chgData name="Sarah BLONDEL" userId="a3575c96e836792c" providerId="LiveId" clId="{AE483778-69BE-44E9-9C44-2EA3DB48A544}" dt="2026-03-09T20:51:37.426" v="1747"/>
          <ac:picMkLst>
            <pc:docMk/>
            <pc:sldMk cId="1266595008" sldId="267"/>
            <ac:picMk id="4" creationId="{7E1BBE3E-A9FC-7D3E-5F7F-EC85CA42BEA2}"/>
          </ac:picMkLst>
        </pc:picChg>
        <pc:picChg chg="mod">
          <ac:chgData name="Sarah BLONDEL" userId="a3575c96e836792c" providerId="LiveId" clId="{AE483778-69BE-44E9-9C44-2EA3DB48A544}" dt="2026-03-10T15:50:29.222" v="2601"/>
          <ac:picMkLst>
            <pc:docMk/>
            <pc:sldMk cId="1266595008" sldId="267"/>
            <ac:picMk id="5" creationId="{BB81380A-DBBC-6721-15F8-982D9C876778}"/>
          </ac:picMkLst>
        </pc:picChg>
        <pc:picChg chg="mod">
          <ac:chgData name="Sarah BLONDEL" userId="a3575c96e836792c" providerId="LiveId" clId="{AE483778-69BE-44E9-9C44-2EA3DB48A544}" dt="2026-03-10T15:50:38.999" v="2603"/>
          <ac:picMkLst>
            <pc:docMk/>
            <pc:sldMk cId="1266595008" sldId="267"/>
            <ac:picMk id="6" creationId="{33DC6ECF-8AF9-428E-94E1-96755F3BA86B}"/>
          </ac:picMkLst>
        </pc:picChg>
      </pc:sldChg>
      <pc:sldChg chg="modSp mod">
        <pc:chgData name="Sarah BLONDEL" userId="a3575c96e836792c" providerId="LiveId" clId="{AE483778-69BE-44E9-9C44-2EA3DB48A544}" dt="2026-03-10T15:56:10.314" v="2604"/>
        <pc:sldMkLst>
          <pc:docMk/>
          <pc:sldMk cId="974220758" sldId="268"/>
        </pc:sldMkLst>
        <pc:picChg chg="mod">
          <ac:chgData name="Sarah BLONDEL" userId="a3575c96e836792c" providerId="LiveId" clId="{AE483778-69BE-44E9-9C44-2EA3DB48A544}" dt="2026-03-10T15:56:10.314" v="2604"/>
          <ac:picMkLst>
            <pc:docMk/>
            <pc:sldMk cId="974220758" sldId="268"/>
            <ac:picMk id="5" creationId="{F13B184D-93AA-1352-DC42-BB834EBA42CC}"/>
          </ac:picMkLst>
        </pc:picChg>
      </pc:sldChg>
      <pc:sldChg chg="addSp modSp mod">
        <pc:chgData name="Sarah BLONDEL" userId="a3575c96e836792c" providerId="LiveId" clId="{AE483778-69BE-44E9-9C44-2EA3DB48A544}" dt="2026-03-10T14:37:18.753" v="2590"/>
        <pc:sldMkLst>
          <pc:docMk/>
          <pc:sldMk cId="2324731045" sldId="269"/>
        </pc:sldMkLst>
        <pc:spChg chg="mod">
          <ac:chgData name="Sarah BLONDEL" userId="a3575c96e836792c" providerId="LiveId" clId="{AE483778-69BE-44E9-9C44-2EA3DB48A544}" dt="2026-03-09T20:42:27.133" v="1696" actId="114"/>
          <ac:spMkLst>
            <pc:docMk/>
            <pc:sldMk cId="2324731045" sldId="269"/>
            <ac:spMk id="7" creationId="{5745F5E9-3DD4-D646-12AD-57BE1B453AE7}"/>
          </ac:spMkLst>
        </pc:spChg>
        <pc:picChg chg="add mod">
          <ac:chgData name="Sarah BLONDEL" userId="a3575c96e836792c" providerId="LiveId" clId="{AE483778-69BE-44E9-9C44-2EA3DB48A544}" dt="2026-03-09T20:41:02.911" v="1686"/>
          <ac:picMkLst>
            <pc:docMk/>
            <pc:sldMk cId="2324731045" sldId="269"/>
            <ac:picMk id="3" creationId="{0EAE39D2-3829-2084-C9B7-0947AA8F37E4}"/>
          </ac:picMkLst>
        </pc:picChg>
        <pc:picChg chg="mod">
          <ac:chgData name="Sarah BLONDEL" userId="a3575c96e836792c" providerId="LiveId" clId="{AE483778-69BE-44E9-9C44-2EA3DB48A544}" dt="2026-03-10T14:37:18.753" v="2590"/>
          <ac:picMkLst>
            <pc:docMk/>
            <pc:sldMk cId="2324731045" sldId="269"/>
            <ac:picMk id="5" creationId="{89FFB5FA-D0DE-8442-3AE6-B9FD934D59F7}"/>
          </ac:picMkLst>
        </pc:picChg>
      </pc:sldChg>
      <pc:sldChg chg="addSp modSp mod">
        <pc:chgData name="Sarah BLONDEL" userId="a3575c96e836792c" providerId="LiveId" clId="{AE483778-69BE-44E9-9C44-2EA3DB48A544}" dt="2026-03-10T14:38:46.741" v="2595" actId="207"/>
        <pc:sldMkLst>
          <pc:docMk/>
          <pc:sldMk cId="3979062631" sldId="270"/>
        </pc:sldMkLst>
        <pc:spChg chg="mod">
          <ac:chgData name="Sarah BLONDEL" userId="a3575c96e836792c" providerId="LiveId" clId="{AE483778-69BE-44E9-9C44-2EA3DB48A544}" dt="2026-03-10T14:38:46.741" v="2595" actId="207"/>
          <ac:spMkLst>
            <pc:docMk/>
            <pc:sldMk cId="3979062631" sldId="270"/>
            <ac:spMk id="7" creationId="{AD1828B2-392D-0C9C-2AB1-CA76DAF304A3}"/>
          </ac:spMkLst>
        </pc:spChg>
        <pc:picChg chg="add mod">
          <ac:chgData name="Sarah BLONDEL" userId="a3575c96e836792c" providerId="LiveId" clId="{AE483778-69BE-44E9-9C44-2EA3DB48A544}" dt="2026-03-09T20:41:57.500" v="1691"/>
          <ac:picMkLst>
            <pc:docMk/>
            <pc:sldMk cId="3979062631" sldId="270"/>
            <ac:picMk id="3" creationId="{8408CE53-310F-7D0D-5CE0-36923F58A26C}"/>
          </ac:picMkLst>
        </pc:picChg>
        <pc:picChg chg="mod">
          <ac:chgData name="Sarah BLONDEL" userId="a3575c96e836792c" providerId="LiveId" clId="{AE483778-69BE-44E9-9C44-2EA3DB48A544}" dt="2026-03-10T14:38:33.986" v="2592"/>
          <ac:picMkLst>
            <pc:docMk/>
            <pc:sldMk cId="3979062631" sldId="270"/>
            <ac:picMk id="4" creationId="{5AA3C7FD-8867-33B4-4C79-9FB6A209A48C}"/>
          </ac:picMkLst>
        </pc:picChg>
      </pc:sldChg>
      <pc:sldChg chg="addSp modSp mod">
        <pc:chgData name="Sarah BLONDEL" userId="a3575c96e836792c" providerId="LiveId" clId="{AE483778-69BE-44E9-9C44-2EA3DB48A544}" dt="2026-03-10T14:39:18.120" v="2597"/>
        <pc:sldMkLst>
          <pc:docMk/>
          <pc:sldMk cId="4210110477" sldId="272"/>
        </pc:sldMkLst>
        <pc:spChg chg="mod">
          <ac:chgData name="Sarah BLONDEL" userId="a3575c96e836792c" providerId="LiveId" clId="{AE483778-69BE-44E9-9C44-2EA3DB48A544}" dt="2026-03-09T20:46:09.996" v="1707" actId="1076"/>
          <ac:spMkLst>
            <pc:docMk/>
            <pc:sldMk cId="4210110477" sldId="272"/>
            <ac:spMk id="7" creationId="{21E9EA96-16AB-4C74-6AFF-32D1AA8BAD13}"/>
          </ac:spMkLst>
        </pc:spChg>
        <pc:picChg chg="add mod">
          <ac:chgData name="Sarah BLONDEL" userId="a3575c96e836792c" providerId="LiveId" clId="{AE483778-69BE-44E9-9C44-2EA3DB48A544}" dt="2026-03-09T20:45:58.528" v="1705"/>
          <ac:picMkLst>
            <pc:docMk/>
            <pc:sldMk cId="4210110477" sldId="272"/>
            <ac:picMk id="3" creationId="{2C2EB58F-81B6-0EA8-6F4E-4D02D6499663}"/>
          </ac:picMkLst>
        </pc:picChg>
        <pc:picChg chg="mod">
          <ac:chgData name="Sarah BLONDEL" userId="a3575c96e836792c" providerId="LiveId" clId="{AE483778-69BE-44E9-9C44-2EA3DB48A544}" dt="2026-03-10T14:39:18.120" v="2597"/>
          <ac:picMkLst>
            <pc:docMk/>
            <pc:sldMk cId="4210110477" sldId="272"/>
            <ac:picMk id="5" creationId="{0A243F4C-F830-09DA-E0BB-D07945F41676}"/>
          </ac:picMkLst>
        </pc:picChg>
      </pc:sldChg>
      <pc:sldChg chg="addSp modSp mod">
        <pc:chgData name="Sarah BLONDEL" userId="a3575c96e836792c" providerId="LiveId" clId="{AE483778-69BE-44E9-9C44-2EA3DB48A544}" dt="2026-03-10T14:40:33.514" v="2599"/>
        <pc:sldMkLst>
          <pc:docMk/>
          <pc:sldMk cId="3085372446" sldId="273"/>
        </pc:sldMkLst>
        <pc:spChg chg="mod">
          <ac:chgData name="Sarah BLONDEL" userId="a3575c96e836792c" providerId="LiveId" clId="{AE483778-69BE-44E9-9C44-2EA3DB48A544}" dt="2026-03-09T20:46:25.945" v="1709" actId="1076"/>
          <ac:spMkLst>
            <pc:docMk/>
            <pc:sldMk cId="3085372446" sldId="273"/>
            <ac:spMk id="7" creationId="{3160C6AC-BB04-B9A2-3D15-70C07C645F34}"/>
          </ac:spMkLst>
        </pc:spChg>
        <pc:picChg chg="add mod">
          <ac:chgData name="Sarah BLONDEL" userId="a3575c96e836792c" providerId="LiveId" clId="{AE483778-69BE-44E9-9C44-2EA3DB48A544}" dt="2026-03-09T20:46:20.506" v="1708"/>
          <ac:picMkLst>
            <pc:docMk/>
            <pc:sldMk cId="3085372446" sldId="273"/>
            <ac:picMk id="3" creationId="{6599C83B-72A6-3C24-81EC-B29103AF8BDB}"/>
          </ac:picMkLst>
        </pc:picChg>
        <pc:picChg chg="mod">
          <ac:chgData name="Sarah BLONDEL" userId="a3575c96e836792c" providerId="LiveId" clId="{AE483778-69BE-44E9-9C44-2EA3DB48A544}" dt="2026-03-10T14:40:33.514" v="2599"/>
          <ac:picMkLst>
            <pc:docMk/>
            <pc:sldMk cId="3085372446" sldId="273"/>
            <ac:picMk id="10" creationId="{B210A115-54A2-37B8-D6CB-40339ECDFAE4}"/>
          </ac:picMkLst>
        </pc:picChg>
      </pc:sldChg>
      <pc:sldChg chg="addSp modSp mod">
        <pc:chgData name="Sarah BLONDEL" userId="a3575c96e836792c" providerId="LiveId" clId="{AE483778-69BE-44E9-9C44-2EA3DB48A544}" dt="2026-03-09T20:48:12.623" v="1714" actId="1076"/>
        <pc:sldMkLst>
          <pc:docMk/>
          <pc:sldMk cId="252078964" sldId="274"/>
        </pc:sldMkLst>
        <pc:spChg chg="mod">
          <ac:chgData name="Sarah BLONDEL" userId="a3575c96e836792c" providerId="LiveId" clId="{AE483778-69BE-44E9-9C44-2EA3DB48A544}" dt="2026-03-09T20:48:12.623" v="1714" actId="1076"/>
          <ac:spMkLst>
            <pc:docMk/>
            <pc:sldMk cId="252078964" sldId="274"/>
            <ac:spMk id="7" creationId="{55621EFD-3848-C55C-247E-B493EBC4432D}"/>
          </ac:spMkLst>
        </pc:spChg>
        <pc:picChg chg="add mod">
          <ac:chgData name="Sarah BLONDEL" userId="a3575c96e836792c" providerId="LiveId" clId="{AE483778-69BE-44E9-9C44-2EA3DB48A544}" dt="2026-03-09T20:48:04.293" v="1713"/>
          <ac:picMkLst>
            <pc:docMk/>
            <pc:sldMk cId="252078964" sldId="274"/>
            <ac:picMk id="3" creationId="{26312267-5154-BF19-A0C2-89A0DCFD4593}"/>
          </ac:picMkLst>
        </pc:picChg>
      </pc:sldChg>
      <pc:sldChg chg="delSp modSp mod">
        <pc:chgData name="Sarah BLONDEL" userId="a3575c96e836792c" providerId="LiveId" clId="{AE483778-69BE-44E9-9C44-2EA3DB48A544}" dt="2026-03-10T13:33:36.185" v="2398" actId="14100"/>
        <pc:sldMkLst>
          <pc:docMk/>
          <pc:sldMk cId="1989570612" sldId="275"/>
        </pc:sldMkLst>
        <pc:spChg chg="mod">
          <ac:chgData name="Sarah BLONDEL" userId="a3575c96e836792c" providerId="LiveId" clId="{AE483778-69BE-44E9-9C44-2EA3DB48A544}" dt="2026-03-10T13:33:36.185" v="2398" actId="14100"/>
          <ac:spMkLst>
            <pc:docMk/>
            <pc:sldMk cId="1989570612" sldId="275"/>
            <ac:spMk id="3" creationId="{D97E4427-7781-2089-4EC1-C9E13E2C0059}"/>
          </ac:spMkLst>
        </pc:spChg>
        <pc:spChg chg="del">
          <ac:chgData name="Sarah BLONDEL" userId="a3575c96e836792c" providerId="LiveId" clId="{AE483778-69BE-44E9-9C44-2EA3DB48A544}" dt="2026-03-10T13:33:33.803" v="2397" actId="478"/>
          <ac:spMkLst>
            <pc:docMk/>
            <pc:sldMk cId="1989570612" sldId="275"/>
            <ac:spMk id="97" creationId="{59466BC7-DBA4-E4DB-50F9-A90BDACAD75E}"/>
          </ac:spMkLst>
        </pc:spChg>
      </pc:sldChg>
      <pc:sldChg chg="addSp delSp modSp new mod">
        <pc:chgData name="Sarah BLONDEL" userId="a3575c96e836792c" providerId="LiveId" clId="{AE483778-69BE-44E9-9C44-2EA3DB48A544}" dt="2026-03-09T20:03:06.601" v="1188" actId="14100"/>
        <pc:sldMkLst>
          <pc:docMk/>
          <pc:sldMk cId="2004006241" sldId="276"/>
        </pc:sldMkLst>
        <pc:picChg chg="add mod modCrop">
          <ac:chgData name="Sarah BLONDEL" userId="a3575c96e836792c" providerId="LiveId" clId="{AE483778-69BE-44E9-9C44-2EA3DB48A544}" dt="2026-03-09T20:02:38.570" v="1181" actId="1076"/>
          <ac:picMkLst>
            <pc:docMk/>
            <pc:sldMk cId="2004006241" sldId="276"/>
            <ac:picMk id="4" creationId="{6A2288C0-D534-162F-4467-D1670D1A3233}"/>
          </ac:picMkLst>
        </pc:picChg>
        <pc:picChg chg="add mod">
          <ac:chgData name="Sarah BLONDEL" userId="a3575c96e836792c" providerId="LiveId" clId="{AE483778-69BE-44E9-9C44-2EA3DB48A544}" dt="2026-03-09T20:02:12.644" v="1175" actId="14100"/>
          <ac:picMkLst>
            <pc:docMk/>
            <pc:sldMk cId="2004006241" sldId="276"/>
            <ac:picMk id="5" creationId="{AB8E58DE-FEC2-83DA-F0B9-9AABD18D417E}"/>
          </ac:picMkLst>
        </pc:picChg>
        <pc:picChg chg="add mod ord">
          <ac:chgData name="Sarah BLONDEL" userId="a3575c96e836792c" providerId="LiveId" clId="{AE483778-69BE-44E9-9C44-2EA3DB48A544}" dt="2026-03-09T20:02:44.221" v="1183" actId="1076"/>
          <ac:picMkLst>
            <pc:docMk/>
            <pc:sldMk cId="2004006241" sldId="276"/>
            <ac:picMk id="6" creationId="{A31D9051-7DFE-1478-DBA0-2BC83CEE4CD8}"/>
          </ac:picMkLst>
        </pc:picChg>
        <pc:picChg chg="add mod">
          <ac:chgData name="Sarah BLONDEL" userId="a3575c96e836792c" providerId="LiveId" clId="{AE483778-69BE-44E9-9C44-2EA3DB48A544}" dt="2026-03-09T20:03:00.540" v="1187" actId="1076"/>
          <ac:picMkLst>
            <pc:docMk/>
            <pc:sldMk cId="2004006241" sldId="276"/>
            <ac:picMk id="7" creationId="{E4218DBE-348A-EB9D-AF0F-28B391FE358B}"/>
          </ac:picMkLst>
        </pc:picChg>
        <pc:picChg chg="add mod">
          <ac:chgData name="Sarah BLONDEL" userId="a3575c96e836792c" providerId="LiveId" clId="{AE483778-69BE-44E9-9C44-2EA3DB48A544}" dt="2026-03-09T20:03:06.601" v="1188" actId="14100"/>
          <ac:picMkLst>
            <pc:docMk/>
            <pc:sldMk cId="2004006241" sldId="276"/>
            <ac:picMk id="8" creationId="{F82AD556-6E0A-EFFB-C8D0-1D23824AC922}"/>
          </ac:picMkLst>
        </pc:picChg>
      </pc:sldChg>
      <pc:sldChg chg="addSp delSp modSp new mod">
        <pc:chgData name="Sarah BLONDEL" userId="a3575c96e836792c" providerId="LiveId" clId="{AE483778-69BE-44E9-9C44-2EA3DB48A544}" dt="2026-03-10T13:05:11.351" v="2212" actId="1076"/>
        <pc:sldMkLst>
          <pc:docMk/>
          <pc:sldMk cId="2180490118" sldId="277"/>
        </pc:sldMkLst>
        <pc:spChg chg="mod">
          <ac:chgData name="Sarah BLONDEL" userId="a3575c96e836792c" providerId="LiveId" clId="{AE483778-69BE-44E9-9C44-2EA3DB48A544}" dt="2026-03-10T13:05:11.351" v="2212" actId="1076"/>
          <ac:spMkLst>
            <pc:docMk/>
            <pc:sldMk cId="2180490118" sldId="277"/>
            <ac:spMk id="2" creationId="{2B816DE9-F3C3-B02A-2195-5C22E9C571EE}"/>
          </ac:spMkLst>
        </pc:spChg>
        <pc:spChg chg="del">
          <ac:chgData name="Sarah BLONDEL" userId="a3575c96e836792c" providerId="LiveId" clId="{AE483778-69BE-44E9-9C44-2EA3DB48A544}" dt="2026-03-10T12:10:42.352" v="1770" actId="478"/>
          <ac:spMkLst>
            <pc:docMk/>
            <pc:sldMk cId="2180490118" sldId="277"/>
            <ac:spMk id="3" creationId="{B2FDBE5E-5BF7-4BAC-EFBF-06DBE9677D44}"/>
          </ac:spMkLst>
        </pc:spChg>
        <pc:spChg chg="add mod">
          <ac:chgData name="Sarah BLONDEL" userId="a3575c96e836792c" providerId="LiveId" clId="{AE483778-69BE-44E9-9C44-2EA3DB48A544}" dt="2026-03-10T12:10:59.082" v="1772" actId="20578"/>
          <ac:spMkLst>
            <pc:docMk/>
            <pc:sldMk cId="2180490118" sldId="277"/>
            <ac:spMk id="5" creationId="{11AC7425-A1D6-A892-D4D7-C562AB81455C}"/>
          </ac:spMkLst>
        </pc:spChg>
        <pc:spChg chg="add mod">
          <ac:chgData name="Sarah BLONDEL" userId="a3575c96e836792c" providerId="LiveId" clId="{AE483778-69BE-44E9-9C44-2EA3DB48A544}" dt="2026-03-10T12:43:22.279" v="2191" actId="20577"/>
          <ac:spMkLst>
            <pc:docMk/>
            <pc:sldMk cId="2180490118" sldId="277"/>
            <ac:spMk id="7" creationId="{4B37C3CF-ABE3-DA00-3D66-EA3685610A2E}"/>
          </ac:spMkLst>
        </pc:spChg>
        <pc:spChg chg="add mod">
          <ac:chgData name="Sarah BLONDEL" userId="a3575c96e836792c" providerId="LiveId" clId="{AE483778-69BE-44E9-9C44-2EA3DB48A544}" dt="2026-03-10T12:43:30.295" v="2196" actId="20577"/>
          <ac:spMkLst>
            <pc:docMk/>
            <pc:sldMk cId="2180490118" sldId="277"/>
            <ac:spMk id="9" creationId="{58E8AE56-F01F-C99E-1DD6-0DBCA98FCAFE}"/>
          </ac:spMkLst>
        </pc:spChg>
        <pc:spChg chg="add mod">
          <ac:chgData name="Sarah BLONDEL" userId="a3575c96e836792c" providerId="LiveId" clId="{AE483778-69BE-44E9-9C44-2EA3DB48A544}" dt="2026-03-10T12:43:47.717" v="2208" actId="1076"/>
          <ac:spMkLst>
            <pc:docMk/>
            <pc:sldMk cId="2180490118" sldId="277"/>
            <ac:spMk id="11" creationId="{A9FF2F71-0479-E421-F65F-5A99957F16C0}"/>
          </ac:spMkLst>
        </pc:spChg>
        <pc:spChg chg="add del mod">
          <ac:chgData name="Sarah BLONDEL" userId="a3575c96e836792c" providerId="LiveId" clId="{AE483778-69BE-44E9-9C44-2EA3DB48A544}" dt="2026-03-10T12:33:05.270" v="1991" actId="478"/>
          <ac:spMkLst>
            <pc:docMk/>
            <pc:sldMk cId="2180490118" sldId="277"/>
            <ac:spMk id="15" creationId="{60A7773F-21C6-101D-E693-B4CEDF0379DB}"/>
          </ac:spMkLst>
        </pc:spChg>
        <pc:spChg chg="add mod">
          <ac:chgData name="Sarah BLONDEL" userId="a3575c96e836792c" providerId="LiveId" clId="{AE483778-69BE-44E9-9C44-2EA3DB48A544}" dt="2026-03-10T12:42:17.976" v="2157" actId="1076"/>
          <ac:spMkLst>
            <pc:docMk/>
            <pc:sldMk cId="2180490118" sldId="277"/>
            <ac:spMk id="17" creationId="{091B868F-47BE-8D64-5E8B-BA29DD7CC484}"/>
          </ac:spMkLst>
        </pc:spChg>
        <pc:spChg chg="add mod">
          <ac:chgData name="Sarah BLONDEL" userId="a3575c96e836792c" providerId="LiveId" clId="{AE483778-69BE-44E9-9C44-2EA3DB48A544}" dt="2026-03-10T12:42:14.046" v="2156" actId="1076"/>
          <ac:spMkLst>
            <pc:docMk/>
            <pc:sldMk cId="2180490118" sldId="277"/>
            <ac:spMk id="19" creationId="{CB839D5D-7728-16A8-6A47-16B9A391590B}"/>
          </ac:spMkLst>
        </pc:spChg>
        <pc:spChg chg="add mod">
          <ac:chgData name="Sarah BLONDEL" userId="a3575c96e836792c" providerId="LiveId" clId="{AE483778-69BE-44E9-9C44-2EA3DB48A544}" dt="2026-03-10T12:43:53.482" v="2209" actId="1076"/>
          <ac:spMkLst>
            <pc:docMk/>
            <pc:sldMk cId="2180490118" sldId="277"/>
            <ac:spMk id="21" creationId="{D363730A-D4D9-A707-926C-210263BA947E}"/>
          </ac:spMkLst>
        </pc:spChg>
        <pc:spChg chg="add del">
          <ac:chgData name="Sarah BLONDEL" userId="a3575c96e836792c" providerId="LiveId" clId="{AE483778-69BE-44E9-9C44-2EA3DB48A544}" dt="2026-03-10T13:05:05.594" v="2211" actId="478"/>
          <ac:spMkLst>
            <pc:docMk/>
            <pc:sldMk cId="2180490118" sldId="277"/>
            <ac:spMk id="22" creationId="{7E061763-A1C3-25B0-711F-F82F1F198FDE}"/>
          </ac:spMkLst>
        </pc:spChg>
        <pc:picChg chg="add mod">
          <ac:chgData name="Sarah BLONDEL" userId="a3575c96e836792c" providerId="LiveId" clId="{AE483778-69BE-44E9-9C44-2EA3DB48A544}" dt="2026-03-10T12:29:14.684" v="1981" actId="1076"/>
          <ac:picMkLst>
            <pc:docMk/>
            <pc:sldMk cId="2180490118" sldId="277"/>
            <ac:picMk id="13" creationId="{080E80DA-05CF-DC55-E107-D4BCB5BA8F22}"/>
          </ac:picMkLst>
        </pc:picChg>
      </pc:sldChg>
      <pc:sldChg chg="delSp modSp add mod">
        <pc:chgData name="Sarah BLONDEL" userId="a3575c96e836792c" providerId="LiveId" clId="{AE483778-69BE-44E9-9C44-2EA3DB48A544}" dt="2026-03-10T13:33:25.980" v="2395" actId="478"/>
        <pc:sldMkLst>
          <pc:docMk/>
          <pc:sldMk cId="2468064280" sldId="278"/>
        </pc:sldMkLst>
        <pc:spChg chg="mod">
          <ac:chgData name="Sarah BLONDEL" userId="a3575c96e836792c" providerId="LiveId" clId="{AE483778-69BE-44E9-9C44-2EA3DB48A544}" dt="2026-03-10T13:33:19.905" v="2394" actId="14100"/>
          <ac:spMkLst>
            <pc:docMk/>
            <pc:sldMk cId="2468064280" sldId="278"/>
            <ac:spMk id="3" creationId="{230B7AED-B3A1-19DD-983E-453CE65AE13B}"/>
          </ac:spMkLst>
        </pc:spChg>
        <pc:spChg chg="del">
          <ac:chgData name="Sarah BLONDEL" userId="a3575c96e836792c" providerId="LiveId" clId="{AE483778-69BE-44E9-9C44-2EA3DB48A544}" dt="2026-03-10T13:22:10.766" v="2235" actId="478"/>
          <ac:spMkLst>
            <pc:docMk/>
            <pc:sldMk cId="2468064280" sldId="278"/>
            <ac:spMk id="95" creationId="{3391F0C7-A51E-6EEB-038B-7F46F846D40A}"/>
          </ac:spMkLst>
        </pc:spChg>
        <pc:spChg chg="del">
          <ac:chgData name="Sarah BLONDEL" userId="a3575c96e836792c" providerId="LiveId" clId="{AE483778-69BE-44E9-9C44-2EA3DB48A544}" dt="2026-03-10T13:22:08.302" v="2234" actId="478"/>
          <ac:spMkLst>
            <pc:docMk/>
            <pc:sldMk cId="2468064280" sldId="278"/>
            <ac:spMk id="96" creationId="{3D02AA07-9382-3C34-9739-35E2F0D15856}"/>
          </ac:spMkLst>
        </pc:spChg>
        <pc:spChg chg="del">
          <ac:chgData name="Sarah BLONDEL" userId="a3575c96e836792c" providerId="LiveId" clId="{AE483778-69BE-44E9-9C44-2EA3DB48A544}" dt="2026-03-10T13:33:25.980" v="2395" actId="478"/>
          <ac:spMkLst>
            <pc:docMk/>
            <pc:sldMk cId="2468064280" sldId="278"/>
            <ac:spMk id="97" creationId="{AC118DC2-87E8-A7AE-AA30-729F0C66A2E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5363CC3B-298D-3473-F620-1E00C54991B1}"/>
            </a:ext>
          </a:extLst>
        </p:cNvPr>
        <p:cNvGrpSpPr/>
        <p:nvPr/>
      </p:nvGrpSpPr>
      <p:grpSpPr>
        <a:xfrm>
          <a:off x="0" y="0"/>
          <a:ext cx="0" cy="0"/>
          <a:chOff x="0" y="0"/>
          <a:chExt cx="0" cy="0"/>
        </a:xfrm>
      </p:grpSpPr>
      <p:sp>
        <p:nvSpPr>
          <p:cNvPr id="68" name="Google Shape;68;p5:notes">
            <a:extLst>
              <a:ext uri="{FF2B5EF4-FFF2-40B4-BE49-F238E27FC236}">
                <a16:creationId xmlns:a16="http://schemas.microsoft.com/office/drawing/2014/main" id="{9F84424B-8A37-551B-C8B5-574C388DFA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a:extLst>
              <a:ext uri="{FF2B5EF4-FFF2-40B4-BE49-F238E27FC236}">
                <a16:creationId xmlns:a16="http://schemas.microsoft.com/office/drawing/2014/main" id="{32180C94-250C-D120-859D-7AB0C164238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45718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870975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3f9e8f15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13f9e8f15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8465AA5C-5EE2-8C2D-E3FC-1927034B5BB8}"/>
            </a:ext>
          </a:extLst>
        </p:cNvPr>
        <p:cNvGrpSpPr/>
        <p:nvPr/>
      </p:nvGrpSpPr>
      <p:grpSpPr>
        <a:xfrm>
          <a:off x="0" y="0"/>
          <a:ext cx="0" cy="0"/>
          <a:chOff x="0" y="0"/>
          <a:chExt cx="0" cy="0"/>
        </a:xfrm>
      </p:grpSpPr>
      <p:sp>
        <p:nvSpPr>
          <p:cNvPr id="68" name="Google Shape;68;p5:notes">
            <a:extLst>
              <a:ext uri="{FF2B5EF4-FFF2-40B4-BE49-F238E27FC236}">
                <a16:creationId xmlns:a16="http://schemas.microsoft.com/office/drawing/2014/main" id="{BB1655F2-7F25-F210-3A37-0F62DAF307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a:extLst>
              <a:ext uri="{FF2B5EF4-FFF2-40B4-BE49-F238E27FC236}">
                <a16:creationId xmlns:a16="http://schemas.microsoft.com/office/drawing/2014/main" id="{AE4C3A01-C130-002F-B01A-97719C90E6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12025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04D0F0A4-AB99-6DAD-717A-5DCBEF912CE7}"/>
            </a:ext>
          </a:extLst>
        </p:cNvPr>
        <p:cNvGrpSpPr/>
        <p:nvPr/>
      </p:nvGrpSpPr>
      <p:grpSpPr>
        <a:xfrm>
          <a:off x="0" y="0"/>
          <a:ext cx="0" cy="0"/>
          <a:chOff x="0" y="0"/>
          <a:chExt cx="0" cy="0"/>
        </a:xfrm>
      </p:grpSpPr>
      <p:sp>
        <p:nvSpPr>
          <p:cNvPr id="92" name="Google Shape;92;g13f9e8f1567_0_0:notes">
            <a:extLst>
              <a:ext uri="{FF2B5EF4-FFF2-40B4-BE49-F238E27FC236}">
                <a16:creationId xmlns:a16="http://schemas.microsoft.com/office/drawing/2014/main" id="{6B8F0825-36EE-FB7C-C051-522EB7BE4B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13f9e8f1567_0_0:notes">
            <a:extLst>
              <a:ext uri="{FF2B5EF4-FFF2-40B4-BE49-F238E27FC236}">
                <a16:creationId xmlns:a16="http://schemas.microsoft.com/office/drawing/2014/main" id="{5992C07F-4BE4-E267-C8D1-CC9F1D202FF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9619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E5724ADC-C078-E690-3CB4-9A8E71D761E9}"/>
            </a:ext>
          </a:extLst>
        </p:cNvPr>
        <p:cNvGrpSpPr/>
        <p:nvPr/>
      </p:nvGrpSpPr>
      <p:grpSpPr>
        <a:xfrm>
          <a:off x="0" y="0"/>
          <a:ext cx="0" cy="0"/>
          <a:chOff x="0" y="0"/>
          <a:chExt cx="0" cy="0"/>
        </a:xfrm>
      </p:grpSpPr>
      <p:sp>
        <p:nvSpPr>
          <p:cNvPr id="92" name="Google Shape;92;g13f9e8f1567_0_0:notes">
            <a:extLst>
              <a:ext uri="{FF2B5EF4-FFF2-40B4-BE49-F238E27FC236}">
                <a16:creationId xmlns:a16="http://schemas.microsoft.com/office/drawing/2014/main" id="{1C92AB2F-15C6-DDF1-5555-37F32D4829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13f9e8f1567_0_0:notes">
            <a:extLst>
              <a:ext uri="{FF2B5EF4-FFF2-40B4-BE49-F238E27FC236}">
                <a16:creationId xmlns:a16="http://schemas.microsoft.com/office/drawing/2014/main" id="{D774B3DC-FCCF-2BD7-4A34-1145465A8E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20958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f9e8f156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13f9e8f156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hyperlink" Target="https://drive.google.com/file/d/1iF7PxUlWL1g4cIu9BHQ-5yI1XdmruAVp/view?usp=sharing" TargetMode="External"/><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file:///C:\Users\blond\OneDrive\Bureau\P6\Distribution%20des%20prix%20des%20bouteilles.html"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file:///C:\Users\blond\OneDrive\Bureau\P6\top20_ca_octobre.html"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file:///C:\Users\blond\OneDrive\Bureau\P6\top20_quantite_octobre.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file:///C:\Users\blond\OneDrive\Bureau\P6\top20_stock_octobre.html"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file:///C:\Users\blond\OneDrive\Bureau\P6\taux_marge_moyen_par_type_produit_octobre.html"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cs.google.com/spreadsheets/d/18MvdKvdjekrfDDFAt4G9NoAxZC3bK2nl/edit?usp=sharing&amp;ouid=104025466112388894381&amp;rtpof=true&amp;sd=tru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5.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p:nvPr/>
        </p:nvSpPr>
        <p:spPr>
          <a:xfrm>
            <a:off x="0" y="0"/>
            <a:ext cx="9144000" cy="5143500"/>
          </a:xfrm>
          <a:prstGeom prst="rect">
            <a:avLst/>
          </a:prstGeom>
          <a:solidFill>
            <a:srgbClr val="4D0801"/>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dirty="0">
              <a:solidFill>
                <a:srgbClr val="000000"/>
              </a:solidFill>
              <a:latin typeface="Arial"/>
              <a:ea typeface="Arial"/>
              <a:cs typeface="Arial"/>
              <a:sym typeface="Arial"/>
            </a:endParaRPr>
          </a:p>
        </p:txBody>
      </p:sp>
      <p:sp>
        <p:nvSpPr>
          <p:cNvPr id="55" name="Google Shape;55;p1"/>
          <p:cNvSpPr txBox="1"/>
          <p:nvPr/>
        </p:nvSpPr>
        <p:spPr>
          <a:xfrm>
            <a:off x="386142" y="2379605"/>
            <a:ext cx="7983300" cy="8940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ct val="100000"/>
              <a:buFont typeface="Arial"/>
              <a:buNone/>
            </a:pPr>
            <a:r>
              <a:rPr lang="fr-FR" sz="3200" b="1" i="0" u="none" strike="noStrike" cap="none" dirty="0">
                <a:solidFill>
                  <a:srgbClr val="F3F3F3"/>
                </a:solidFill>
                <a:latin typeface="Montserrat"/>
                <a:ea typeface="Montserrat"/>
                <a:cs typeface="Montserrat"/>
                <a:sym typeface="Montserrat"/>
              </a:rPr>
              <a:t>Rapprochement et analyse des données de ventes</a:t>
            </a:r>
            <a:endParaRPr sz="3200" b="1" i="0" u="none" strike="noStrike" cap="none" dirty="0">
              <a:solidFill>
                <a:srgbClr val="F3F3F3"/>
              </a:solidFill>
              <a:latin typeface="Montserrat"/>
              <a:ea typeface="Montserrat"/>
              <a:cs typeface="Montserrat"/>
              <a:sym typeface="Montserrat"/>
            </a:endParaRPr>
          </a:p>
        </p:txBody>
      </p:sp>
      <p:sp>
        <p:nvSpPr>
          <p:cNvPr id="56" name="Google Shape;56;p1"/>
          <p:cNvSpPr txBox="1"/>
          <p:nvPr/>
        </p:nvSpPr>
        <p:spPr>
          <a:xfrm>
            <a:off x="4968964" y="3582148"/>
            <a:ext cx="3807680" cy="53415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ct val="100000"/>
              <a:buFont typeface="Arial"/>
              <a:buNone/>
            </a:pPr>
            <a:r>
              <a:rPr lang="fr" sz="2000" dirty="0">
                <a:solidFill>
                  <a:schemeClr val="lt1"/>
                </a:solidFill>
                <a:latin typeface="Montserrat"/>
                <a:ea typeface="Montserrat"/>
                <a:cs typeface="Montserrat"/>
                <a:sym typeface="Montserrat"/>
              </a:rPr>
              <a:t>Sarah BLONDEL</a:t>
            </a:r>
            <a:endParaRPr sz="2800" b="0" i="0" u="none" strike="noStrike" cap="none" dirty="0">
              <a:solidFill>
                <a:schemeClr val="lt1"/>
              </a:solidFill>
              <a:latin typeface="Montserrat"/>
              <a:ea typeface="Montserrat"/>
              <a:cs typeface="Montserrat"/>
              <a:sym typeface="Montserrat"/>
            </a:endParaRPr>
          </a:p>
        </p:txBody>
      </p:sp>
      <p:sp>
        <p:nvSpPr>
          <p:cNvPr id="57" name="Google Shape;57;p1"/>
          <p:cNvSpPr txBox="1"/>
          <p:nvPr/>
        </p:nvSpPr>
        <p:spPr>
          <a:xfrm>
            <a:off x="4968964" y="3975103"/>
            <a:ext cx="3807680" cy="53415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ct val="100000"/>
              <a:buFont typeface="Arial"/>
              <a:buNone/>
            </a:pPr>
            <a:r>
              <a:rPr lang="fr" sz="2000" dirty="0">
                <a:solidFill>
                  <a:schemeClr val="lt1"/>
                </a:solidFill>
                <a:latin typeface="Montserrat"/>
                <a:ea typeface="Montserrat"/>
                <a:cs typeface="Montserrat"/>
                <a:sym typeface="Montserrat"/>
              </a:rPr>
              <a:t>Data Analyste</a:t>
            </a:r>
            <a:endParaRPr sz="2800" b="0" i="0" u="none" strike="noStrike" cap="none" dirty="0">
              <a:solidFill>
                <a:schemeClr val="lt1"/>
              </a:solidFill>
              <a:latin typeface="Montserrat"/>
              <a:ea typeface="Montserrat"/>
              <a:cs typeface="Montserrat"/>
              <a:sym typeface="Montserrat"/>
            </a:endParaRPr>
          </a:p>
        </p:txBody>
      </p:sp>
      <p:sp>
        <p:nvSpPr>
          <p:cNvPr id="58" name="Google Shape;58;p1"/>
          <p:cNvSpPr txBox="1"/>
          <p:nvPr/>
        </p:nvSpPr>
        <p:spPr>
          <a:xfrm>
            <a:off x="4968964" y="4368058"/>
            <a:ext cx="3807680" cy="53415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ct val="100000"/>
              <a:buFont typeface="Arial"/>
              <a:buNone/>
            </a:pPr>
            <a:r>
              <a:rPr lang="fr" sz="2000" b="0" i="0" u="none" strike="noStrike" cap="none" dirty="0">
                <a:solidFill>
                  <a:schemeClr val="lt1"/>
                </a:solidFill>
                <a:latin typeface="Montserrat"/>
                <a:ea typeface="Montserrat"/>
                <a:cs typeface="Montserrat"/>
                <a:sym typeface="Montserrat"/>
              </a:rPr>
              <a:t>08 mars 2026</a:t>
            </a:r>
            <a:endParaRPr sz="2800" b="0" i="0" u="none" strike="noStrike" cap="none" dirty="0">
              <a:solidFill>
                <a:schemeClr val="lt1"/>
              </a:solidFill>
              <a:latin typeface="Montserrat"/>
              <a:ea typeface="Montserrat"/>
              <a:cs typeface="Montserrat"/>
              <a:sym typeface="Montserrat"/>
            </a:endParaRPr>
          </a:p>
        </p:txBody>
      </p:sp>
      <p:pic>
        <p:nvPicPr>
          <p:cNvPr id="3" name="Image 2">
            <a:extLst>
              <a:ext uri="{FF2B5EF4-FFF2-40B4-BE49-F238E27FC236}">
                <a16:creationId xmlns:a16="http://schemas.microsoft.com/office/drawing/2014/main" id="{EDB0C5E4-30E1-1A82-4D4F-15940AB2656B}"/>
              </a:ext>
            </a:extLst>
          </p:cNvPr>
          <p:cNvPicPr>
            <a:picLocks noChangeAspect="1"/>
          </p:cNvPicPr>
          <p:nvPr/>
        </p:nvPicPr>
        <p:blipFill>
          <a:blip r:embed="rId3"/>
          <a:stretch>
            <a:fillRect/>
          </a:stretch>
        </p:blipFill>
        <p:spPr>
          <a:xfrm>
            <a:off x="202225" y="204314"/>
            <a:ext cx="2645906" cy="1823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2" name="Image 1">
            <a:extLst>
              <a:ext uri="{FF2B5EF4-FFF2-40B4-BE49-F238E27FC236}">
                <a16:creationId xmlns:a16="http://schemas.microsoft.com/office/drawing/2014/main" id="{964DBF31-3777-7096-E952-1020A250B693}"/>
              </a:ext>
            </a:extLst>
          </p:cNvPr>
          <p:cNvPicPr>
            <a:picLocks noChangeAspect="1"/>
          </p:cNvPicPr>
          <p:nvPr/>
        </p:nvPicPr>
        <p:blipFill>
          <a:blip r:embed="rId3"/>
          <a:stretch>
            <a:fillRect/>
          </a:stretch>
        </p:blipFill>
        <p:spPr>
          <a:xfrm>
            <a:off x="8221719" y="3613372"/>
            <a:ext cx="922280" cy="634319"/>
          </a:xfrm>
          <a:prstGeom prst="rect">
            <a:avLst/>
          </a:prstGeom>
        </p:spPr>
      </p:pic>
      <p:sp>
        <p:nvSpPr>
          <p:cNvPr id="64" name="Google Shape;64;p4"/>
          <p:cNvSpPr/>
          <p:nvPr/>
        </p:nvSpPr>
        <p:spPr>
          <a:xfrm>
            <a:off x="0" y="0"/>
            <a:ext cx="9144000" cy="634319"/>
          </a:xfrm>
          <a:prstGeom prst="rect">
            <a:avLst/>
          </a:prstGeom>
          <a:solidFill>
            <a:srgbClr val="4D0801"/>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3" name="Google Shape;63;p4"/>
          <p:cNvSpPr txBox="1">
            <a:spLocks noGrp="1"/>
          </p:cNvSpPr>
          <p:nvPr>
            <p:ph type="body" idx="1"/>
          </p:nvPr>
        </p:nvSpPr>
        <p:spPr>
          <a:xfrm>
            <a:off x="0" y="4640611"/>
            <a:ext cx="9143999" cy="714099"/>
          </a:xfrm>
          <a:prstGeom prst="rect">
            <a:avLst/>
          </a:prstGeom>
          <a:noFill/>
          <a:ln>
            <a:noFill/>
          </a:ln>
        </p:spPr>
        <p:txBody>
          <a:bodyPr spcFirstLastPara="1" wrap="square" lIns="91425" tIns="91425" rIns="91425" bIns="91425" anchor="t" anchorCtr="0">
            <a:noAutofit/>
          </a:bodyPr>
          <a:lstStyle/>
          <a:p>
            <a:pPr marL="114300" indent="0" algn="ctr">
              <a:lnSpc>
                <a:spcPct val="155000"/>
              </a:lnSpc>
              <a:buNone/>
            </a:pPr>
            <a:r>
              <a:rPr lang="fr-FR" sz="1100" b="1" u="sng" dirty="0">
                <a:solidFill>
                  <a:srgbClr val="4D0801"/>
                </a:solidFill>
                <a:latin typeface="Montserrat"/>
                <a:ea typeface="Montserrat"/>
                <a:cs typeface="Montserrat"/>
                <a:sym typeface="Montserrat"/>
              </a:rPr>
              <a:t>Aucune donnée personnelle n’est présente dans les </a:t>
            </a:r>
            <a:r>
              <a:rPr lang="fr-FR" sz="1100" b="1" u="sng" dirty="0" err="1">
                <a:solidFill>
                  <a:srgbClr val="4D0801"/>
                </a:solidFill>
                <a:latin typeface="Montserrat"/>
                <a:ea typeface="Montserrat"/>
                <a:cs typeface="Montserrat"/>
                <a:sym typeface="Montserrat"/>
              </a:rPr>
              <a:t>datasets</a:t>
            </a:r>
            <a:r>
              <a:rPr lang="fr-FR" sz="1100" b="1" u="sng" dirty="0">
                <a:solidFill>
                  <a:srgbClr val="4D0801"/>
                </a:solidFill>
                <a:latin typeface="Montserrat"/>
                <a:ea typeface="Montserrat"/>
                <a:cs typeface="Montserrat"/>
                <a:sym typeface="Montserrat"/>
              </a:rPr>
              <a:t>, il n’y a donc pas d’enjeu RGPD dans ce projet</a:t>
            </a:r>
            <a:r>
              <a:rPr lang="fr-FR" sz="1100" i="1" u="sng" dirty="0">
                <a:solidFill>
                  <a:schemeClr val="tx1"/>
                </a:solidFill>
                <a:latin typeface="Montserrat"/>
                <a:ea typeface="Montserrat"/>
                <a:cs typeface="Montserrat"/>
                <a:sym typeface="Montserrat"/>
              </a:rPr>
              <a:t>.</a:t>
            </a:r>
            <a:endParaRPr sz="1100" i="1" u="sng" dirty="0">
              <a:solidFill>
                <a:schemeClr val="tx1"/>
              </a:solidFill>
              <a:latin typeface="Montserrat"/>
              <a:ea typeface="Montserrat"/>
              <a:cs typeface="Montserrat"/>
              <a:sym typeface="Montserrat"/>
            </a:endParaRPr>
          </a:p>
        </p:txBody>
      </p:sp>
      <p:sp>
        <p:nvSpPr>
          <p:cNvPr id="65" name="Google Shape;65;p4"/>
          <p:cNvSpPr txBox="1"/>
          <p:nvPr/>
        </p:nvSpPr>
        <p:spPr>
          <a:xfrm>
            <a:off x="0" y="-1"/>
            <a:ext cx="9143999" cy="627289"/>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Analyses </a:t>
            </a:r>
            <a:r>
              <a:rPr lang="fr" sz="2500"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Exploratoires</a:t>
            </a:r>
            <a:r>
              <a:rPr lang="fr" sz="2500" b="0" i="0" u="none" strike="noStrike" cap="none"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 des Données </a:t>
            </a:r>
            <a:endParaRPr sz="2500" b="0" i="0" u="none" strike="noStrike" cap="none" dirty="0">
              <a:solidFill>
                <a:srgbClr val="F3F3F3"/>
              </a:solidFill>
              <a:latin typeface="Montserrat"/>
              <a:ea typeface="Montserrat"/>
              <a:cs typeface="Montserrat"/>
              <a:sym typeface="Montserrat"/>
            </a:endParaRPr>
          </a:p>
        </p:txBody>
      </p:sp>
      <p:pic>
        <p:nvPicPr>
          <p:cNvPr id="15" name="Image 14">
            <a:extLst>
              <a:ext uri="{FF2B5EF4-FFF2-40B4-BE49-F238E27FC236}">
                <a16:creationId xmlns:a16="http://schemas.microsoft.com/office/drawing/2014/main" id="{D66ACB50-2D7E-E0BB-6581-2EFE37B7B95C}"/>
              </a:ext>
            </a:extLst>
          </p:cNvPr>
          <p:cNvPicPr>
            <a:picLocks noChangeAspect="1"/>
          </p:cNvPicPr>
          <p:nvPr/>
        </p:nvPicPr>
        <p:blipFill>
          <a:blip r:embed="rId4"/>
          <a:stretch>
            <a:fillRect/>
          </a:stretch>
        </p:blipFill>
        <p:spPr>
          <a:xfrm>
            <a:off x="2080397" y="778809"/>
            <a:ext cx="4983204" cy="371028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3774DBAF-EF60-22FA-2948-857D68C66FBB}"/>
            </a:ext>
          </a:extLst>
        </p:cNvPr>
        <p:cNvGrpSpPr/>
        <p:nvPr/>
      </p:nvGrpSpPr>
      <p:grpSpPr>
        <a:xfrm>
          <a:off x="0" y="0"/>
          <a:ext cx="0" cy="0"/>
          <a:chOff x="0" y="0"/>
          <a:chExt cx="0" cy="0"/>
        </a:xfrm>
      </p:grpSpPr>
      <p:sp>
        <p:nvSpPr>
          <p:cNvPr id="71" name="Google Shape;71;p5">
            <a:extLst>
              <a:ext uri="{FF2B5EF4-FFF2-40B4-BE49-F238E27FC236}">
                <a16:creationId xmlns:a16="http://schemas.microsoft.com/office/drawing/2014/main" id="{C342E86B-C9BC-0EA3-6BF9-A9DEDD760E1B}"/>
              </a:ext>
            </a:extLst>
          </p:cNvPr>
          <p:cNvSpPr txBox="1">
            <a:spLocks noGrp="1"/>
          </p:cNvSpPr>
          <p:nvPr>
            <p:ph type="body" idx="1"/>
          </p:nvPr>
        </p:nvSpPr>
        <p:spPr>
          <a:xfrm>
            <a:off x="142408" y="4033173"/>
            <a:ext cx="8934345" cy="974361"/>
          </a:xfrm>
          <a:prstGeom prst="rect">
            <a:avLst/>
          </a:prstGeom>
          <a:noFill/>
          <a:ln>
            <a:noFill/>
          </a:ln>
        </p:spPr>
        <p:txBody>
          <a:bodyPr spcFirstLastPara="1" wrap="square" lIns="91425" tIns="91425" rIns="91425" bIns="91425" anchor="t" anchorCtr="0">
            <a:normAutofit/>
          </a:bodyPr>
          <a:lstStyle/>
          <a:p>
            <a:pPr>
              <a:buNone/>
            </a:pPr>
            <a:r>
              <a:rPr lang="fr-FR" sz="1400" dirty="0">
                <a:solidFill>
                  <a:schemeClr val="tx1"/>
                </a:solidFill>
              </a:rPr>
              <a:t>Les anomalies ont été documentées dans le journal d’erreurs afin d’assurer la traçabilité des corrections </a:t>
            </a:r>
          </a:p>
          <a:p>
            <a:pPr>
              <a:buNone/>
            </a:pPr>
            <a:r>
              <a:rPr lang="fr-FR" sz="1400" dirty="0">
                <a:solidFill>
                  <a:schemeClr val="tx1"/>
                </a:solidFill>
              </a:rPr>
              <a:t>et d’améliorer la qualité des données. Au total, 8 types d’anomalies ont été identifiés et traités lors </a:t>
            </a:r>
          </a:p>
          <a:p>
            <a:pPr>
              <a:buNone/>
            </a:pPr>
            <a:r>
              <a:rPr lang="fr-FR" sz="1400" dirty="0">
                <a:solidFill>
                  <a:schemeClr val="tx1"/>
                </a:solidFill>
              </a:rPr>
              <a:t>du nettoyage des données.</a:t>
            </a:r>
            <a:endParaRPr sz="1400" dirty="0">
              <a:solidFill>
                <a:schemeClr val="tx1"/>
              </a:solidFill>
              <a:latin typeface="Montserrat"/>
              <a:ea typeface="Montserrat"/>
              <a:cs typeface="Montserrat"/>
              <a:sym typeface="Montserrat"/>
            </a:endParaRPr>
          </a:p>
        </p:txBody>
      </p:sp>
      <p:sp>
        <p:nvSpPr>
          <p:cNvPr id="72" name="Google Shape;72;p5">
            <a:extLst>
              <a:ext uri="{FF2B5EF4-FFF2-40B4-BE49-F238E27FC236}">
                <a16:creationId xmlns:a16="http://schemas.microsoft.com/office/drawing/2014/main" id="{ABD9799C-ABD6-1B7F-E24E-61DDF833E402}"/>
              </a:ext>
            </a:extLst>
          </p:cNvPr>
          <p:cNvSpPr/>
          <p:nvPr/>
        </p:nvSpPr>
        <p:spPr>
          <a:xfrm>
            <a:off x="0" y="-14494"/>
            <a:ext cx="9144000" cy="651576"/>
          </a:xfrm>
          <a:prstGeom prst="rect">
            <a:avLst/>
          </a:prstGeom>
          <a:solidFill>
            <a:srgbClr val="4D080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3" name="Google Shape;73;p5">
            <a:extLst>
              <a:ext uri="{FF2B5EF4-FFF2-40B4-BE49-F238E27FC236}">
                <a16:creationId xmlns:a16="http://schemas.microsoft.com/office/drawing/2014/main" id="{BFDBBC2F-6DAF-B65C-D4F8-9655BB0AD49B}"/>
              </a:ext>
            </a:extLst>
          </p:cNvPr>
          <p:cNvSpPr txBox="1"/>
          <p:nvPr/>
        </p:nvSpPr>
        <p:spPr>
          <a:xfrm>
            <a:off x="67248" y="10953"/>
            <a:ext cx="9076752" cy="5727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ts val="2500"/>
              <a:buFont typeface="Arial"/>
              <a:buNone/>
            </a:pPr>
            <a:r>
              <a:rPr lang="fr-FR" sz="2500" dirty="0">
                <a:solidFill>
                  <a:srgbClr val="F3F3F3"/>
                </a:solidFill>
                <a:latin typeface="Montserrat"/>
                <a:ea typeface="Montserrat"/>
                <a:cs typeface="Montserrat"/>
                <a:sym typeface="Montserrat"/>
              </a:rPr>
              <a:t>Principales anomalies </a:t>
            </a:r>
            <a:r>
              <a:rPr lang="fr-FR" sz="2500" b="0" i="0" u="none" strike="noStrike" cap="none" dirty="0">
                <a:solidFill>
                  <a:srgbClr val="F3F3F3"/>
                </a:solidFill>
                <a:latin typeface="Montserrat"/>
                <a:ea typeface="Montserrat"/>
                <a:cs typeface="Montserrat"/>
                <a:sym typeface="Montserrat"/>
              </a:rPr>
              <a:t>détectées</a:t>
            </a:r>
          </a:p>
        </p:txBody>
      </p:sp>
      <p:pic>
        <p:nvPicPr>
          <p:cNvPr id="2" name="Image 1">
            <a:extLst>
              <a:ext uri="{FF2B5EF4-FFF2-40B4-BE49-F238E27FC236}">
                <a16:creationId xmlns:a16="http://schemas.microsoft.com/office/drawing/2014/main" id="{F2A0C549-9819-4E63-26B8-737F614E5E81}"/>
              </a:ext>
            </a:extLst>
          </p:cNvPr>
          <p:cNvPicPr>
            <a:picLocks noChangeAspect="1"/>
          </p:cNvPicPr>
          <p:nvPr/>
        </p:nvPicPr>
        <p:blipFill>
          <a:blip r:embed="rId3"/>
          <a:stretch>
            <a:fillRect/>
          </a:stretch>
        </p:blipFill>
        <p:spPr>
          <a:xfrm>
            <a:off x="8156177" y="4498508"/>
            <a:ext cx="920576" cy="634039"/>
          </a:xfrm>
          <a:prstGeom prst="rect">
            <a:avLst/>
          </a:prstGeom>
        </p:spPr>
      </p:pic>
      <p:pic>
        <p:nvPicPr>
          <p:cNvPr id="5" name="Image 4" descr="Bouton d’alerte rouge">
            <a:extLst>
              <a:ext uri="{FF2B5EF4-FFF2-40B4-BE49-F238E27FC236}">
                <a16:creationId xmlns:a16="http://schemas.microsoft.com/office/drawing/2014/main" id="{E003338B-509C-AFED-5D5E-41909328F0A8}"/>
              </a:ext>
            </a:extLst>
          </p:cNvPr>
          <p:cNvPicPr>
            <a:picLocks noChangeAspect="1"/>
          </p:cNvPicPr>
          <p:nvPr/>
        </p:nvPicPr>
        <p:blipFill>
          <a:blip r:embed="rId4">
            <a:clrChange>
              <a:clrFrom>
                <a:srgbClr val="FFFFFF"/>
              </a:clrFrom>
              <a:clrTo>
                <a:srgbClr val="FFFFFF">
                  <a:alpha val="0"/>
                </a:srgbClr>
              </a:clrTo>
            </a:clrChange>
          </a:blip>
          <a:stretch>
            <a:fillRect/>
          </a:stretch>
        </p:blipFill>
        <p:spPr>
          <a:xfrm rot="11430673" flipH="1" flipV="1">
            <a:off x="5416511" y="2008485"/>
            <a:ext cx="1248599" cy="1070012"/>
          </a:xfrm>
          <a:prstGeom prst="rect">
            <a:avLst/>
          </a:prstGeom>
        </p:spPr>
      </p:pic>
      <p:sp>
        <p:nvSpPr>
          <p:cNvPr id="8" name="Rectangle 7">
            <a:extLst>
              <a:ext uri="{FF2B5EF4-FFF2-40B4-BE49-F238E27FC236}">
                <a16:creationId xmlns:a16="http://schemas.microsoft.com/office/drawing/2014/main" id="{8248EDB1-7D74-D98A-E8A3-76D6043F3EF1}"/>
              </a:ext>
            </a:extLst>
          </p:cNvPr>
          <p:cNvSpPr/>
          <p:nvPr/>
        </p:nvSpPr>
        <p:spPr>
          <a:xfrm>
            <a:off x="5956095" y="997437"/>
            <a:ext cx="2795082" cy="923330"/>
          </a:xfrm>
          <a:prstGeom prst="rect">
            <a:avLst/>
          </a:prstGeom>
          <a:noFill/>
        </p:spPr>
        <p:txBody>
          <a:bodyPr wrap="square" lIns="91440" tIns="45720" rIns="91440" bIns="45720">
            <a:spAutoFit/>
          </a:bodyPr>
          <a:lstStyle/>
          <a:p>
            <a:pPr algn="ctr"/>
            <a:r>
              <a:rPr lang="fr-FR" sz="1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ARRÊT</a:t>
            </a:r>
            <a:r>
              <a:rPr lang="fr-FR"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fr-FR" sz="1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IMMEDIAT</a:t>
            </a:r>
            <a:r>
              <a:rPr lang="fr-FR"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p>
        </p:txBody>
      </p:sp>
      <p:sp>
        <p:nvSpPr>
          <p:cNvPr id="9" name="ZoneTexte 8">
            <a:extLst>
              <a:ext uri="{FF2B5EF4-FFF2-40B4-BE49-F238E27FC236}">
                <a16:creationId xmlns:a16="http://schemas.microsoft.com/office/drawing/2014/main" id="{E51AD9B6-B0F8-91D3-DE77-8EC1D03F6C05}"/>
              </a:ext>
            </a:extLst>
          </p:cNvPr>
          <p:cNvSpPr txBox="1"/>
          <p:nvPr/>
        </p:nvSpPr>
        <p:spPr>
          <a:xfrm>
            <a:off x="6603626" y="1903573"/>
            <a:ext cx="2218295" cy="1815882"/>
          </a:xfrm>
          <a:prstGeom prst="rect">
            <a:avLst/>
          </a:prstGeom>
          <a:noFill/>
        </p:spPr>
        <p:txBody>
          <a:bodyPr wrap="square" rtlCol="0">
            <a:spAutoFit/>
          </a:bodyPr>
          <a:lstStyle/>
          <a:p>
            <a:r>
              <a:rPr lang="fr-FR" dirty="0"/>
              <a:t>Prix négatif </a:t>
            </a:r>
          </a:p>
          <a:p>
            <a:endParaRPr lang="fr-FR" dirty="0"/>
          </a:p>
          <a:p>
            <a:r>
              <a:rPr lang="fr-FR" dirty="0"/>
              <a:t>Prix négatif et en stock !!</a:t>
            </a:r>
          </a:p>
          <a:p>
            <a:endParaRPr lang="fr-FR" dirty="0"/>
          </a:p>
          <a:p>
            <a:r>
              <a:rPr lang="fr-FR" dirty="0"/>
              <a:t>Prix vente &lt; prix achat</a:t>
            </a:r>
          </a:p>
          <a:p>
            <a:endParaRPr lang="fr-FR" dirty="0"/>
          </a:p>
          <a:p>
            <a:r>
              <a:rPr lang="fr-FR" dirty="0"/>
              <a:t>Taux de marge négatif</a:t>
            </a:r>
          </a:p>
          <a:p>
            <a:endParaRPr lang="fr-FR" dirty="0"/>
          </a:p>
        </p:txBody>
      </p:sp>
      <p:pic>
        <p:nvPicPr>
          <p:cNvPr id="1026" name="Picture 2" descr="NO MATCH FOR red grungy rectangle stamp sign Stock Photo - Alamy">
            <a:extLst>
              <a:ext uri="{FF2B5EF4-FFF2-40B4-BE49-F238E27FC236}">
                <a16:creationId xmlns:a16="http://schemas.microsoft.com/office/drawing/2014/main" id="{1DE1F2D0-1A98-A00B-B3EA-E2A9FA514E6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6683"/>
          <a:stretch>
            <a:fillRect/>
          </a:stretch>
        </p:blipFill>
        <p:spPr bwMode="auto">
          <a:xfrm>
            <a:off x="2952418" y="862484"/>
            <a:ext cx="1576125" cy="651576"/>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 10">
            <a:extLst>
              <a:ext uri="{FF2B5EF4-FFF2-40B4-BE49-F238E27FC236}">
                <a16:creationId xmlns:a16="http://schemas.microsoft.com/office/drawing/2014/main" id="{4EE95D0E-BC70-1E21-F7FF-C490CA7CFA43}"/>
              </a:ext>
            </a:extLst>
          </p:cNvPr>
          <p:cNvPicPr>
            <a:picLocks noChangeAspect="1"/>
          </p:cNvPicPr>
          <p:nvPr/>
        </p:nvPicPr>
        <p:blipFill>
          <a:blip r:embed="rId6"/>
          <a:srcRect t="8417"/>
          <a:stretch>
            <a:fillRect/>
          </a:stretch>
        </p:blipFill>
        <p:spPr>
          <a:xfrm>
            <a:off x="870449" y="1621458"/>
            <a:ext cx="1040984" cy="892354"/>
          </a:xfrm>
          <a:prstGeom prst="rect">
            <a:avLst/>
          </a:prstGeom>
        </p:spPr>
      </p:pic>
      <p:sp>
        <p:nvSpPr>
          <p:cNvPr id="12" name="ZoneTexte 11">
            <a:extLst>
              <a:ext uri="{FF2B5EF4-FFF2-40B4-BE49-F238E27FC236}">
                <a16:creationId xmlns:a16="http://schemas.microsoft.com/office/drawing/2014/main" id="{ACDEE081-ABA6-610E-7072-20FE5FC74129}"/>
              </a:ext>
            </a:extLst>
          </p:cNvPr>
          <p:cNvSpPr txBox="1"/>
          <p:nvPr/>
        </p:nvSpPr>
        <p:spPr>
          <a:xfrm>
            <a:off x="322081" y="2571750"/>
            <a:ext cx="2218295" cy="1169551"/>
          </a:xfrm>
          <a:prstGeom prst="rect">
            <a:avLst/>
          </a:prstGeom>
          <a:noFill/>
        </p:spPr>
        <p:txBody>
          <a:bodyPr wrap="square" rtlCol="0">
            <a:spAutoFit/>
          </a:bodyPr>
          <a:lstStyle/>
          <a:p>
            <a:pPr algn="ctr"/>
            <a:r>
              <a:rPr lang="fr-FR" dirty="0"/>
              <a:t>Devise transaction ?</a:t>
            </a:r>
          </a:p>
          <a:p>
            <a:pPr algn="ctr"/>
            <a:endParaRPr lang="fr-FR" dirty="0"/>
          </a:p>
          <a:p>
            <a:pPr algn="ctr"/>
            <a:r>
              <a:rPr lang="fr-FR" dirty="0"/>
              <a:t>Homogénéité code SKU</a:t>
            </a:r>
          </a:p>
          <a:p>
            <a:pPr algn="ctr"/>
            <a:endParaRPr lang="fr-FR" dirty="0"/>
          </a:p>
          <a:p>
            <a:pPr algn="ctr"/>
            <a:endParaRPr lang="fr-FR" dirty="0"/>
          </a:p>
        </p:txBody>
      </p:sp>
      <p:sp>
        <p:nvSpPr>
          <p:cNvPr id="13" name="ZoneTexte 12">
            <a:extLst>
              <a:ext uri="{FF2B5EF4-FFF2-40B4-BE49-F238E27FC236}">
                <a16:creationId xmlns:a16="http://schemas.microsoft.com/office/drawing/2014/main" id="{8BFCD29B-D948-AC63-18AF-BDF884B24155}"/>
              </a:ext>
            </a:extLst>
          </p:cNvPr>
          <p:cNvSpPr txBox="1"/>
          <p:nvPr/>
        </p:nvSpPr>
        <p:spPr>
          <a:xfrm>
            <a:off x="2952418" y="1639073"/>
            <a:ext cx="2218295" cy="738664"/>
          </a:xfrm>
          <a:prstGeom prst="rect">
            <a:avLst/>
          </a:prstGeom>
          <a:noFill/>
        </p:spPr>
        <p:txBody>
          <a:bodyPr wrap="square" rtlCol="0">
            <a:spAutoFit/>
          </a:bodyPr>
          <a:lstStyle/>
          <a:p>
            <a:r>
              <a:rPr lang="fr-FR" dirty="0"/>
              <a:t>     Id dans liaison</a:t>
            </a:r>
          </a:p>
          <a:p>
            <a:endParaRPr lang="fr-FR" dirty="0"/>
          </a:p>
          <a:p>
            <a:r>
              <a:rPr lang="fr-FR" dirty="0"/>
              <a:t>Valeurs manquantes</a:t>
            </a:r>
          </a:p>
        </p:txBody>
      </p:sp>
      <p:pic>
        <p:nvPicPr>
          <p:cNvPr id="24" name="Image 23">
            <a:extLst>
              <a:ext uri="{FF2B5EF4-FFF2-40B4-BE49-F238E27FC236}">
                <a16:creationId xmlns:a16="http://schemas.microsoft.com/office/drawing/2014/main" id="{DEA91E39-0283-0588-0763-03D54526749B}"/>
              </a:ext>
            </a:extLst>
          </p:cNvPr>
          <p:cNvPicPr>
            <a:picLocks noChangeAspect="1"/>
          </p:cNvPicPr>
          <p:nvPr/>
        </p:nvPicPr>
        <p:blipFill>
          <a:blip r:embed="rId7"/>
          <a:stretch>
            <a:fillRect/>
          </a:stretch>
        </p:blipFill>
        <p:spPr>
          <a:xfrm>
            <a:off x="3038170" y="1732147"/>
            <a:ext cx="192869" cy="147569"/>
          </a:xfrm>
          <a:prstGeom prst="rect">
            <a:avLst/>
          </a:prstGeom>
        </p:spPr>
      </p:pic>
    </p:spTree>
    <p:extLst>
      <p:ext uri="{BB962C8B-B14F-4D97-AF65-F5344CB8AC3E}">
        <p14:creationId xmlns:p14="http://schemas.microsoft.com/office/powerpoint/2010/main" val="1922001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AB8E58DE-FEC2-83DA-F0B9-9AABD18D417E}"/>
              </a:ext>
            </a:extLst>
          </p:cNvPr>
          <p:cNvPicPr>
            <a:picLocks noChangeAspect="1"/>
          </p:cNvPicPr>
          <p:nvPr/>
        </p:nvPicPr>
        <p:blipFill>
          <a:blip r:embed="rId2"/>
          <a:stretch>
            <a:fillRect/>
          </a:stretch>
        </p:blipFill>
        <p:spPr>
          <a:xfrm>
            <a:off x="123668" y="885738"/>
            <a:ext cx="9020332" cy="2726892"/>
          </a:xfrm>
          <a:prstGeom prst="rect">
            <a:avLst/>
          </a:prstGeom>
        </p:spPr>
      </p:pic>
      <p:pic>
        <p:nvPicPr>
          <p:cNvPr id="7" name="Image 6">
            <a:hlinkClick r:id="rId3"/>
            <a:extLst>
              <a:ext uri="{FF2B5EF4-FFF2-40B4-BE49-F238E27FC236}">
                <a16:creationId xmlns:a16="http://schemas.microsoft.com/office/drawing/2014/main" id="{E4218DBE-348A-EB9D-AF0F-28B391FE358B}"/>
              </a:ext>
            </a:extLst>
          </p:cNvPr>
          <p:cNvPicPr>
            <a:picLocks noChangeAspect="1"/>
          </p:cNvPicPr>
          <p:nvPr/>
        </p:nvPicPr>
        <p:blipFill>
          <a:blip r:embed="rId4"/>
          <a:stretch>
            <a:fillRect/>
          </a:stretch>
        </p:blipFill>
        <p:spPr>
          <a:xfrm rot="19030696">
            <a:off x="5399036" y="3921436"/>
            <a:ext cx="939389" cy="939389"/>
          </a:xfrm>
          <a:prstGeom prst="rect">
            <a:avLst/>
          </a:prstGeom>
        </p:spPr>
      </p:pic>
      <p:pic>
        <p:nvPicPr>
          <p:cNvPr id="6" name="Image 5">
            <a:hlinkClick r:id="rId3"/>
            <a:extLst>
              <a:ext uri="{FF2B5EF4-FFF2-40B4-BE49-F238E27FC236}">
                <a16:creationId xmlns:a16="http://schemas.microsoft.com/office/drawing/2014/main" id="{A31D9051-7DFE-1478-DBA0-2BC83CEE4CD8}"/>
              </a:ext>
            </a:extLst>
          </p:cNvPr>
          <p:cNvPicPr>
            <a:picLocks noChangeAspect="1"/>
          </p:cNvPicPr>
          <p:nvPr/>
        </p:nvPicPr>
        <p:blipFill>
          <a:blip r:embed="rId5"/>
          <a:stretch>
            <a:fillRect/>
          </a:stretch>
        </p:blipFill>
        <p:spPr>
          <a:xfrm>
            <a:off x="3472967" y="4124393"/>
            <a:ext cx="2048161" cy="266737"/>
          </a:xfrm>
          <a:prstGeom prst="rect">
            <a:avLst/>
          </a:prstGeom>
          <a:ln>
            <a:solidFill>
              <a:schemeClr val="tx1"/>
            </a:solidFill>
          </a:ln>
        </p:spPr>
      </p:pic>
      <p:pic>
        <p:nvPicPr>
          <p:cNvPr id="8" name="Image 7">
            <a:extLst>
              <a:ext uri="{FF2B5EF4-FFF2-40B4-BE49-F238E27FC236}">
                <a16:creationId xmlns:a16="http://schemas.microsoft.com/office/drawing/2014/main" id="{F82AD556-6E0A-EFFB-C8D0-1D23824AC922}"/>
              </a:ext>
            </a:extLst>
          </p:cNvPr>
          <p:cNvPicPr>
            <a:picLocks noChangeAspect="1"/>
          </p:cNvPicPr>
          <p:nvPr/>
        </p:nvPicPr>
        <p:blipFill>
          <a:blip r:embed="rId6"/>
          <a:stretch>
            <a:fillRect/>
          </a:stretch>
        </p:blipFill>
        <p:spPr>
          <a:xfrm>
            <a:off x="7880693" y="67456"/>
            <a:ext cx="1051285" cy="723045"/>
          </a:xfrm>
          <a:prstGeom prst="rect">
            <a:avLst/>
          </a:prstGeom>
        </p:spPr>
      </p:pic>
      <p:pic>
        <p:nvPicPr>
          <p:cNvPr id="4" name="Image 3">
            <a:extLst>
              <a:ext uri="{FF2B5EF4-FFF2-40B4-BE49-F238E27FC236}">
                <a16:creationId xmlns:a16="http://schemas.microsoft.com/office/drawing/2014/main" id="{6A2288C0-D534-162F-4467-D1670D1A3233}"/>
              </a:ext>
            </a:extLst>
          </p:cNvPr>
          <p:cNvPicPr>
            <a:picLocks noChangeAspect="1"/>
          </p:cNvPicPr>
          <p:nvPr/>
        </p:nvPicPr>
        <p:blipFill>
          <a:blip r:embed="rId7"/>
          <a:srcRect l="15429" t="24059" r="14261" b="22054"/>
          <a:stretch>
            <a:fillRect/>
          </a:stretch>
        </p:blipFill>
        <p:spPr>
          <a:xfrm>
            <a:off x="123668" y="67456"/>
            <a:ext cx="1015731" cy="733858"/>
          </a:xfrm>
          <a:prstGeom prst="rect">
            <a:avLst/>
          </a:prstGeom>
        </p:spPr>
      </p:pic>
    </p:spTree>
    <p:extLst>
      <p:ext uri="{BB962C8B-B14F-4D97-AF65-F5344CB8AC3E}">
        <p14:creationId xmlns:p14="http://schemas.microsoft.com/office/powerpoint/2010/main" val="2004006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2" name="Google Shape;72;p5"/>
          <p:cNvSpPr/>
          <p:nvPr/>
        </p:nvSpPr>
        <p:spPr>
          <a:xfrm>
            <a:off x="0" y="0"/>
            <a:ext cx="9144000" cy="942950"/>
          </a:xfrm>
          <a:prstGeom prst="rect">
            <a:avLst/>
          </a:prstGeom>
          <a:solidFill>
            <a:srgbClr val="4D080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p:cNvSpPr txBox="1"/>
          <p:nvPr/>
        </p:nvSpPr>
        <p:spPr>
          <a:xfrm>
            <a:off x="0" y="109100"/>
            <a:ext cx="9091534" cy="5727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Fusion ou consolidations des données</a:t>
            </a:r>
            <a:endParaRPr sz="2500" b="0" i="0" u="none" strike="noStrike" cap="none" dirty="0">
              <a:solidFill>
                <a:srgbClr val="F3F3F3"/>
              </a:solidFill>
              <a:latin typeface="Montserrat"/>
              <a:ea typeface="Montserrat"/>
              <a:cs typeface="Montserrat"/>
              <a:sym typeface="Montserrat"/>
            </a:endParaRPr>
          </a:p>
        </p:txBody>
      </p:sp>
      <p:sp>
        <p:nvSpPr>
          <p:cNvPr id="74" name="Google Shape;74;p5"/>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Image 1">
            <a:extLst>
              <a:ext uri="{FF2B5EF4-FFF2-40B4-BE49-F238E27FC236}">
                <a16:creationId xmlns:a16="http://schemas.microsoft.com/office/drawing/2014/main" id="{1A7EC183-AD46-ED3B-3743-17ECEC81066B}"/>
              </a:ext>
            </a:extLst>
          </p:cNvPr>
          <p:cNvPicPr>
            <a:picLocks noChangeAspect="1"/>
          </p:cNvPicPr>
          <p:nvPr/>
        </p:nvPicPr>
        <p:blipFill>
          <a:blip r:embed="rId3"/>
          <a:stretch>
            <a:fillRect/>
          </a:stretch>
        </p:blipFill>
        <p:spPr>
          <a:xfrm>
            <a:off x="8036048" y="4269619"/>
            <a:ext cx="920576" cy="634039"/>
          </a:xfrm>
          <a:prstGeom prst="rect">
            <a:avLst/>
          </a:prstGeom>
        </p:spPr>
      </p:pic>
      <p:pic>
        <p:nvPicPr>
          <p:cNvPr id="4" name="Image 3">
            <a:extLst>
              <a:ext uri="{FF2B5EF4-FFF2-40B4-BE49-F238E27FC236}">
                <a16:creationId xmlns:a16="http://schemas.microsoft.com/office/drawing/2014/main" id="{5E836644-D0BF-F606-363E-BF0FDC5E3195}"/>
              </a:ext>
            </a:extLst>
          </p:cNvPr>
          <p:cNvPicPr>
            <a:picLocks noChangeAspect="1"/>
          </p:cNvPicPr>
          <p:nvPr/>
        </p:nvPicPr>
        <p:blipFill>
          <a:blip r:embed="rId4"/>
          <a:stretch>
            <a:fillRect/>
          </a:stretch>
        </p:blipFill>
        <p:spPr>
          <a:xfrm>
            <a:off x="187376" y="1712244"/>
            <a:ext cx="3093051" cy="2319788"/>
          </a:xfrm>
          <a:prstGeom prst="rect">
            <a:avLst/>
          </a:prstGeom>
        </p:spPr>
      </p:pic>
      <p:pic>
        <p:nvPicPr>
          <p:cNvPr id="7" name="Image 6">
            <a:extLst>
              <a:ext uri="{FF2B5EF4-FFF2-40B4-BE49-F238E27FC236}">
                <a16:creationId xmlns:a16="http://schemas.microsoft.com/office/drawing/2014/main" id="{B330AFF0-2B84-F860-C097-610E4C59BD0B}"/>
              </a:ext>
            </a:extLst>
          </p:cNvPr>
          <p:cNvPicPr>
            <a:picLocks noChangeAspect="1"/>
          </p:cNvPicPr>
          <p:nvPr/>
        </p:nvPicPr>
        <p:blipFill>
          <a:blip r:embed="rId5"/>
          <a:stretch>
            <a:fillRect/>
          </a:stretch>
        </p:blipFill>
        <p:spPr>
          <a:xfrm>
            <a:off x="3502414" y="1712244"/>
            <a:ext cx="5454210" cy="2238536"/>
          </a:xfrm>
          <a:prstGeom prst="rect">
            <a:avLst/>
          </a:prstGeom>
          <a:ln>
            <a:solidFill>
              <a:srgbClr val="4D080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6"/>
          <p:cNvSpPr txBox="1">
            <a:spLocks noGrp="1"/>
          </p:cNvSpPr>
          <p:nvPr>
            <p:ph type="body" idx="1"/>
          </p:nvPr>
        </p:nvSpPr>
        <p:spPr>
          <a:xfrm>
            <a:off x="557278" y="1390200"/>
            <a:ext cx="8287463" cy="4086675"/>
          </a:xfrm>
          <a:prstGeom prst="rect">
            <a:avLst/>
          </a:prstGeom>
          <a:noFill/>
          <a:ln>
            <a:noFill/>
          </a:ln>
        </p:spPr>
        <p:txBody>
          <a:bodyPr spcFirstLastPara="1" wrap="square" lIns="91425" tIns="91425" rIns="91425" bIns="91425" anchor="t" anchorCtr="0">
            <a:normAutofit lnSpcReduction="10000"/>
          </a:bodyPr>
          <a:lstStyle/>
          <a:p>
            <a:pPr>
              <a:buNone/>
            </a:pPr>
            <a:r>
              <a:rPr lang="fr-FR" sz="1600" b="1" u="sng" dirty="0">
                <a:solidFill>
                  <a:srgbClr val="4D0801"/>
                </a:solidFill>
              </a:rPr>
              <a:t>Méthode </a:t>
            </a:r>
          </a:p>
          <a:p>
            <a:pPr>
              <a:buNone/>
            </a:pPr>
            <a:endParaRPr lang="fr-FR" sz="900" dirty="0">
              <a:solidFill>
                <a:schemeClr val="tx1"/>
              </a:solidFill>
            </a:endParaRPr>
          </a:p>
          <a:p>
            <a:pPr>
              <a:buNone/>
            </a:pPr>
            <a:r>
              <a:rPr lang="fr-FR" sz="1600" dirty="0">
                <a:solidFill>
                  <a:schemeClr val="tx1"/>
                </a:solidFill>
              </a:rPr>
              <a:t>méthode IQR (écart interquartile)</a:t>
            </a:r>
          </a:p>
          <a:p>
            <a:pPr>
              <a:buNone/>
            </a:pPr>
            <a:r>
              <a:rPr lang="fr-FR" altLang="fr-FR" sz="1600" dirty="0">
                <a:solidFill>
                  <a:schemeClr val="tx1"/>
                </a:solidFill>
              </a:rPr>
              <a:t>Z-scores (&gt; |3|) pour identifier les anomalies de prix</a:t>
            </a:r>
          </a:p>
          <a:p>
            <a:pPr marL="114300" indent="0">
              <a:buNone/>
            </a:pPr>
            <a:endParaRPr lang="fr-FR" sz="1600" dirty="0">
              <a:solidFill>
                <a:schemeClr val="tx1"/>
              </a:solidFill>
            </a:endParaRPr>
          </a:p>
          <a:p>
            <a:pPr>
              <a:buNone/>
            </a:pPr>
            <a:r>
              <a:rPr lang="fr-FR" sz="1600" b="1" u="sng" dirty="0">
                <a:solidFill>
                  <a:srgbClr val="4D0801"/>
                </a:solidFill>
              </a:rPr>
              <a:t>Objectif </a:t>
            </a:r>
          </a:p>
          <a:p>
            <a:pPr>
              <a:buNone/>
            </a:pPr>
            <a:endParaRPr lang="fr-FR" sz="900" b="1" u="sng" dirty="0">
              <a:solidFill>
                <a:srgbClr val="4D0801"/>
              </a:solidFill>
            </a:endParaRPr>
          </a:p>
          <a:p>
            <a:pPr>
              <a:buNone/>
            </a:pPr>
            <a:r>
              <a:rPr lang="fr-FR" sz="1600" dirty="0">
                <a:solidFill>
                  <a:schemeClr val="tx1"/>
                </a:solidFill>
              </a:rPr>
              <a:t>Comprendre la distribution des prix </a:t>
            </a:r>
          </a:p>
          <a:p>
            <a:pPr>
              <a:buNone/>
            </a:pPr>
            <a:r>
              <a:rPr lang="fr-FR" sz="1600" dirty="0">
                <a:solidFill>
                  <a:schemeClr val="tx1"/>
                </a:solidFill>
              </a:rPr>
              <a:t>(répartition des prix, tendance centrale, détection des </a:t>
            </a:r>
            <a:r>
              <a:rPr lang="fr-FR" sz="1600" dirty="0" err="1">
                <a:solidFill>
                  <a:schemeClr val="tx1"/>
                </a:solidFill>
              </a:rPr>
              <a:t>outliers</a:t>
            </a:r>
            <a:r>
              <a:rPr lang="fr-FR" sz="1600" dirty="0">
                <a:solidFill>
                  <a:schemeClr val="tx1"/>
                </a:solidFill>
              </a:rPr>
              <a:t>)</a:t>
            </a:r>
          </a:p>
          <a:p>
            <a:pPr>
              <a:buNone/>
            </a:pPr>
            <a:endParaRPr lang="fr-FR" sz="1600" dirty="0">
              <a:solidFill>
                <a:schemeClr val="tx1"/>
              </a:solidFill>
            </a:endParaRPr>
          </a:p>
          <a:p>
            <a:pPr>
              <a:buNone/>
            </a:pPr>
            <a:r>
              <a:rPr lang="fr-FR" sz="1600" b="1" u="sng" dirty="0">
                <a:solidFill>
                  <a:srgbClr val="4D0801"/>
                </a:solidFill>
              </a:rPr>
              <a:t>Visualisation</a:t>
            </a:r>
          </a:p>
          <a:p>
            <a:pPr>
              <a:buNone/>
            </a:pPr>
            <a:endParaRPr lang="fr-FR" sz="900" b="1" u="sng" dirty="0">
              <a:solidFill>
                <a:srgbClr val="4D0801"/>
              </a:solidFill>
            </a:endParaRPr>
          </a:p>
          <a:p>
            <a:pPr marL="0" lvl="0" indent="0" eaLnBrk="0" fontAlgn="base" hangingPunct="0">
              <a:lnSpc>
                <a:spcPct val="100000"/>
              </a:lnSpc>
              <a:spcBef>
                <a:spcPct val="0"/>
              </a:spcBef>
              <a:spcAft>
                <a:spcPct val="0"/>
              </a:spcAft>
              <a:buClrTx/>
              <a:buSzTx/>
              <a:buNone/>
            </a:pPr>
            <a:r>
              <a:rPr lang="fr-FR" altLang="fr-FR" sz="1600" dirty="0">
                <a:solidFill>
                  <a:schemeClr val="tx1"/>
                </a:solidFill>
              </a:rPr>
              <a:t>  </a:t>
            </a:r>
            <a:r>
              <a:rPr lang="fr-FR" altLang="fr-FR" sz="1600" dirty="0" err="1">
                <a:solidFill>
                  <a:schemeClr val="tx1"/>
                </a:solidFill>
              </a:rPr>
              <a:t>Boxplot</a:t>
            </a:r>
            <a:r>
              <a:rPr lang="fr-FR" altLang="fr-FR" sz="1600" dirty="0">
                <a:solidFill>
                  <a:schemeClr val="tx1"/>
                </a:solidFill>
              </a:rPr>
              <a:t> (détection IQR des valeurs extrêmes)</a:t>
            </a:r>
          </a:p>
          <a:p>
            <a:pPr marL="0" lvl="0" indent="0" eaLnBrk="0" fontAlgn="base" hangingPunct="0">
              <a:lnSpc>
                <a:spcPct val="100000"/>
              </a:lnSpc>
              <a:spcBef>
                <a:spcPct val="0"/>
              </a:spcBef>
              <a:spcAft>
                <a:spcPct val="0"/>
              </a:spcAft>
              <a:buClrTx/>
              <a:buSzTx/>
              <a:buNone/>
            </a:pPr>
            <a:r>
              <a:rPr lang="fr-FR" altLang="fr-FR" sz="1600" dirty="0">
                <a:solidFill>
                  <a:schemeClr val="tx1"/>
                </a:solidFill>
              </a:rPr>
              <a:t>  Graphiques en barres (tops 20)</a:t>
            </a:r>
          </a:p>
          <a:p>
            <a:pPr marL="0" lvl="0" indent="0" eaLnBrk="0" fontAlgn="base" hangingPunct="0">
              <a:lnSpc>
                <a:spcPct val="100000"/>
              </a:lnSpc>
              <a:spcBef>
                <a:spcPct val="0"/>
              </a:spcBef>
              <a:spcAft>
                <a:spcPct val="0"/>
              </a:spcAft>
              <a:buClrTx/>
              <a:buSzTx/>
              <a:buNone/>
            </a:pPr>
            <a:r>
              <a:rPr lang="fr-FR" altLang="fr-FR" sz="1600" dirty="0">
                <a:solidFill>
                  <a:schemeClr val="tx1"/>
                </a:solidFill>
              </a:rPr>
              <a:t>  </a:t>
            </a:r>
            <a:r>
              <a:rPr lang="fr-FR" altLang="fr-FR" sz="1600" dirty="0" err="1">
                <a:solidFill>
                  <a:schemeClr val="tx1"/>
                </a:solidFill>
              </a:rPr>
              <a:t>Heatmap</a:t>
            </a:r>
            <a:r>
              <a:rPr lang="fr-FR" altLang="fr-FR" sz="1600" dirty="0">
                <a:solidFill>
                  <a:schemeClr val="tx1"/>
                </a:solidFill>
              </a:rPr>
              <a:t> &amp; tableau (corrélations)</a:t>
            </a:r>
          </a:p>
          <a:p>
            <a:pPr marL="0" lvl="0" indent="0" eaLnBrk="0" fontAlgn="base" hangingPunct="0">
              <a:lnSpc>
                <a:spcPct val="100000"/>
              </a:lnSpc>
              <a:spcBef>
                <a:spcPct val="0"/>
              </a:spcBef>
              <a:spcAft>
                <a:spcPct val="0"/>
              </a:spcAft>
              <a:buClrTx/>
              <a:buSzTx/>
              <a:buNone/>
            </a:pPr>
            <a:endParaRPr lang="fr-FR" altLang="fr-FR" sz="1600" dirty="0">
              <a:solidFill>
                <a:schemeClr val="tx1"/>
              </a:solidFill>
            </a:endParaRPr>
          </a:p>
          <a:p>
            <a:pPr marL="0" lvl="0" indent="0" eaLnBrk="0" fontAlgn="base" hangingPunct="0">
              <a:lnSpc>
                <a:spcPct val="100000"/>
              </a:lnSpc>
              <a:spcBef>
                <a:spcPct val="0"/>
              </a:spcBef>
              <a:spcAft>
                <a:spcPct val="0"/>
              </a:spcAft>
              <a:buClrTx/>
              <a:buSzTx/>
              <a:buNone/>
            </a:pPr>
            <a:r>
              <a:rPr lang="fr-FR" altLang="fr-FR" sz="1600" dirty="0">
                <a:solidFill>
                  <a:schemeClr val="tx1"/>
                </a:solidFill>
              </a:rPr>
              <a:t>  </a:t>
            </a:r>
            <a:endParaRPr lang="fr-FR" b="1" u="sng" dirty="0">
              <a:solidFill>
                <a:srgbClr val="4D0801"/>
              </a:solidFill>
            </a:endParaRPr>
          </a:p>
        </p:txBody>
      </p:sp>
      <p:sp>
        <p:nvSpPr>
          <p:cNvPr id="80" name="Google Shape;80;p6"/>
          <p:cNvSpPr/>
          <p:nvPr/>
        </p:nvSpPr>
        <p:spPr>
          <a:xfrm>
            <a:off x="0" y="0"/>
            <a:ext cx="9144000" cy="1390200"/>
          </a:xfrm>
          <a:prstGeom prst="rect">
            <a:avLst/>
          </a:prstGeom>
          <a:solidFill>
            <a:srgbClr val="4D080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univariées du prix</a:t>
            </a:r>
            <a:endParaRPr sz="2500" b="0" i="0" u="none" strike="noStrike" cap="none" dirty="0">
              <a:solidFill>
                <a:srgbClr val="F3F3F3"/>
              </a:solidFill>
              <a:latin typeface="Montserrat"/>
              <a:ea typeface="Montserrat"/>
              <a:cs typeface="Montserrat"/>
              <a:sym typeface="Montserrat"/>
            </a:endParaRPr>
          </a:p>
        </p:txBody>
      </p:sp>
      <p:sp>
        <p:nvSpPr>
          <p:cNvPr id="82" name="Google Shape;82;p6"/>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Image 1">
            <a:extLst>
              <a:ext uri="{FF2B5EF4-FFF2-40B4-BE49-F238E27FC236}">
                <a16:creationId xmlns:a16="http://schemas.microsoft.com/office/drawing/2014/main" id="{19A7981F-4B62-DF28-3DE2-1DEC5F350C5D}"/>
              </a:ext>
            </a:extLst>
          </p:cNvPr>
          <p:cNvPicPr>
            <a:picLocks noChangeAspect="1"/>
          </p:cNvPicPr>
          <p:nvPr/>
        </p:nvPicPr>
        <p:blipFill>
          <a:blip r:embed="rId3"/>
          <a:stretch>
            <a:fillRect/>
          </a:stretch>
        </p:blipFill>
        <p:spPr>
          <a:xfrm>
            <a:off x="8126433" y="4509461"/>
            <a:ext cx="920576" cy="6340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hlinkClick r:id="rId2"/>
            <a:extLst>
              <a:ext uri="{FF2B5EF4-FFF2-40B4-BE49-F238E27FC236}">
                <a16:creationId xmlns:a16="http://schemas.microsoft.com/office/drawing/2014/main" id="{F13B184D-93AA-1352-DC42-BB834EBA42CC}"/>
              </a:ext>
            </a:extLst>
          </p:cNvPr>
          <p:cNvPicPr>
            <a:picLocks noChangeAspect="1"/>
          </p:cNvPicPr>
          <p:nvPr/>
        </p:nvPicPr>
        <p:blipFill>
          <a:blip r:embed="rId3"/>
          <a:srcRect t="15170"/>
          <a:stretch>
            <a:fillRect/>
          </a:stretch>
        </p:blipFill>
        <p:spPr>
          <a:xfrm>
            <a:off x="28401" y="982200"/>
            <a:ext cx="6217225" cy="3087084"/>
          </a:xfrm>
          <a:prstGeom prst="rect">
            <a:avLst/>
          </a:prstGeom>
        </p:spPr>
      </p:pic>
      <p:sp>
        <p:nvSpPr>
          <p:cNvPr id="9" name="ZoneTexte 8">
            <a:extLst>
              <a:ext uri="{FF2B5EF4-FFF2-40B4-BE49-F238E27FC236}">
                <a16:creationId xmlns:a16="http://schemas.microsoft.com/office/drawing/2014/main" id="{E611F612-7EDD-7598-3675-2C4785B2DB06}"/>
              </a:ext>
            </a:extLst>
          </p:cNvPr>
          <p:cNvSpPr txBox="1"/>
          <p:nvPr/>
        </p:nvSpPr>
        <p:spPr>
          <a:xfrm>
            <a:off x="6373781" y="1878279"/>
            <a:ext cx="2499361" cy="1015663"/>
          </a:xfrm>
          <a:prstGeom prst="rect">
            <a:avLst/>
          </a:prstGeom>
          <a:noFill/>
          <a:ln>
            <a:solidFill>
              <a:schemeClr val="accent1">
                <a:lumMod val="50000"/>
              </a:schemeClr>
            </a:solidFill>
          </a:ln>
        </p:spPr>
        <p:txBody>
          <a:bodyPr wrap="square">
            <a:spAutoFit/>
          </a:bodyPr>
          <a:lstStyle/>
          <a:p>
            <a:pPr>
              <a:buNone/>
            </a:pPr>
            <a:r>
              <a:rPr lang="fr-FR" sz="1200" b="1" dirty="0"/>
              <a:t>Médiane ≈ 23 €</a:t>
            </a:r>
            <a:br>
              <a:rPr lang="fr-FR" sz="1200" dirty="0"/>
            </a:br>
            <a:r>
              <a:rPr lang="fr-FR" sz="1200" dirty="0"/>
              <a:t>La majorité des prix se situe </a:t>
            </a:r>
            <a:r>
              <a:rPr lang="fr-FR" sz="1200" b="1" dirty="0"/>
              <a:t>entre 14 € et 42 €</a:t>
            </a:r>
            <a:br>
              <a:rPr lang="fr-FR" sz="1200" dirty="0"/>
            </a:br>
            <a:r>
              <a:rPr lang="fr-FR" sz="1200" dirty="0"/>
              <a:t>Quelques vins premium atteignent </a:t>
            </a:r>
            <a:r>
              <a:rPr lang="fr-FR" sz="1200" b="1" dirty="0"/>
              <a:t>plus de 200 €</a:t>
            </a:r>
            <a:endParaRPr lang="fr-FR" sz="1200" dirty="0">
              <a:solidFill>
                <a:schemeClr val="accent1">
                  <a:lumMod val="50000"/>
                </a:schemeClr>
              </a:solidFill>
            </a:endParaRPr>
          </a:p>
        </p:txBody>
      </p:sp>
      <p:sp>
        <p:nvSpPr>
          <p:cNvPr id="11" name="Espace réservé du texte 10">
            <a:extLst>
              <a:ext uri="{FF2B5EF4-FFF2-40B4-BE49-F238E27FC236}">
                <a16:creationId xmlns:a16="http://schemas.microsoft.com/office/drawing/2014/main" id="{DE4C5C05-DCD1-CF0A-B9C8-16428FFF8DA4}"/>
              </a:ext>
            </a:extLst>
          </p:cNvPr>
          <p:cNvSpPr>
            <a:spLocks noGrp="1"/>
          </p:cNvSpPr>
          <p:nvPr>
            <p:ph type="body" idx="1"/>
          </p:nvPr>
        </p:nvSpPr>
        <p:spPr>
          <a:xfrm>
            <a:off x="68580" y="4202581"/>
            <a:ext cx="9139842" cy="695144"/>
          </a:xfrm>
        </p:spPr>
        <p:txBody>
          <a:bodyPr>
            <a:noAutofit/>
          </a:bodyPr>
          <a:lstStyle/>
          <a:p>
            <a:pPr marL="114300" indent="0">
              <a:buNone/>
            </a:pPr>
            <a:r>
              <a:rPr kumimoji="0" lang="fr-FR" sz="1400" b="0" i="0" u="none" strike="noStrike" kern="0" cap="none" spc="0" normalizeH="0" baseline="0" noProof="0" dirty="0">
                <a:ln>
                  <a:noFill/>
                </a:ln>
                <a:solidFill>
                  <a:srgbClr val="4D0801"/>
                </a:solidFill>
                <a:effectLst/>
                <a:uLnTx/>
                <a:uFillTx/>
                <a:latin typeface="Arial"/>
                <a:cs typeface="Arial"/>
                <a:sym typeface="Wingdings 3" panose="05040102010807070707" pitchFamily="18" charset="2"/>
              </a:rPr>
              <a:t> </a:t>
            </a:r>
            <a:r>
              <a:rPr lang="fr-FR" sz="1400" dirty="0">
                <a:solidFill>
                  <a:srgbClr val="4D0801"/>
                </a:solidFill>
              </a:rPr>
              <a:t>Le catalogue est majoritairement composé de vins de gamme intermédiaire, avec quelques références premium présentant des prix nettement plus </a:t>
            </a:r>
            <a:r>
              <a:rPr lang="fr-FR" sz="1400" dirty="0" err="1">
                <a:solidFill>
                  <a:srgbClr val="4D0801"/>
                </a:solidFill>
              </a:rPr>
              <a:t>élevés.</a:t>
            </a:r>
            <a:r>
              <a:rPr lang="fr-FR" sz="1200" i="1" dirty="0" err="1">
                <a:solidFill>
                  <a:srgbClr val="4D0801"/>
                </a:solidFill>
              </a:rPr>
              <a:t>Analyse</a:t>
            </a:r>
            <a:r>
              <a:rPr lang="fr-FR" sz="1200" i="1" dirty="0">
                <a:solidFill>
                  <a:srgbClr val="4D0801"/>
                </a:solidFill>
              </a:rPr>
              <a:t> réalisée sur les ventes du mois d’octobre.</a:t>
            </a:r>
          </a:p>
        </p:txBody>
      </p:sp>
      <p:sp>
        <p:nvSpPr>
          <p:cNvPr id="13" name="ZoneTexte 12">
            <a:extLst>
              <a:ext uri="{FF2B5EF4-FFF2-40B4-BE49-F238E27FC236}">
                <a16:creationId xmlns:a16="http://schemas.microsoft.com/office/drawing/2014/main" id="{65BDDFE2-1CCC-B755-2161-B059BAADE197}"/>
              </a:ext>
            </a:extLst>
          </p:cNvPr>
          <p:cNvSpPr txBox="1"/>
          <p:nvPr/>
        </p:nvSpPr>
        <p:spPr>
          <a:xfrm>
            <a:off x="68580" y="674423"/>
            <a:ext cx="8568344" cy="307777"/>
          </a:xfrm>
          <a:prstGeom prst="rect">
            <a:avLst/>
          </a:prstGeom>
          <a:noFill/>
        </p:spPr>
        <p:txBody>
          <a:bodyPr wrap="square" rtlCol="0">
            <a:spAutoFit/>
          </a:bodyPr>
          <a:lstStyle/>
          <a:p>
            <a:r>
              <a:rPr lang="fr-FR" b="1" u="sng" dirty="0">
                <a:solidFill>
                  <a:schemeClr val="accent1">
                    <a:lumMod val="50000"/>
                  </a:schemeClr>
                </a:solidFill>
              </a:rPr>
              <a:t>Distribution des prix des bouteilles </a:t>
            </a:r>
            <a:r>
              <a:rPr lang="fr-FR" sz="1000" i="1" dirty="0"/>
              <a:t>Les valeurs atypiques sont identifiées à l’aide de la méthode de l’écart interquartile (IQR).</a:t>
            </a:r>
            <a:endParaRPr lang="fr-FR" sz="1000" b="1" i="1" u="sng" dirty="0">
              <a:solidFill>
                <a:schemeClr val="accent1">
                  <a:lumMod val="50000"/>
                </a:schemeClr>
              </a:solidFill>
            </a:endParaRPr>
          </a:p>
        </p:txBody>
      </p:sp>
      <p:pic>
        <p:nvPicPr>
          <p:cNvPr id="16" name="Image 15">
            <a:extLst>
              <a:ext uri="{FF2B5EF4-FFF2-40B4-BE49-F238E27FC236}">
                <a16:creationId xmlns:a16="http://schemas.microsoft.com/office/drawing/2014/main" id="{169AD644-65F9-64E7-0866-96F80CD16ED6}"/>
              </a:ext>
            </a:extLst>
          </p:cNvPr>
          <p:cNvPicPr>
            <a:picLocks noChangeAspect="1"/>
          </p:cNvPicPr>
          <p:nvPr/>
        </p:nvPicPr>
        <p:blipFill>
          <a:blip r:embed="rId4"/>
          <a:stretch>
            <a:fillRect/>
          </a:stretch>
        </p:blipFill>
        <p:spPr>
          <a:xfrm>
            <a:off x="8219266" y="4485166"/>
            <a:ext cx="920576" cy="634039"/>
          </a:xfrm>
          <a:prstGeom prst="rect">
            <a:avLst/>
          </a:prstGeom>
        </p:spPr>
      </p:pic>
      <p:sp>
        <p:nvSpPr>
          <p:cNvPr id="20" name="Titre 1">
            <a:extLst>
              <a:ext uri="{FF2B5EF4-FFF2-40B4-BE49-F238E27FC236}">
                <a16:creationId xmlns:a16="http://schemas.microsoft.com/office/drawing/2014/main" id="{F5DA640B-FE41-7C9A-44CF-25EDE9F1D708}"/>
              </a:ext>
            </a:extLst>
          </p:cNvPr>
          <p:cNvSpPr>
            <a:spLocks noGrp="1"/>
          </p:cNvSpPr>
          <p:nvPr>
            <p:ph type="title"/>
          </p:nvPr>
        </p:nvSpPr>
        <p:spPr>
          <a:xfrm>
            <a:off x="0" y="-3059"/>
            <a:ext cx="9144000" cy="572700"/>
          </a:xfrm>
          <a:solidFill>
            <a:srgbClr val="4D0801"/>
          </a:solidFill>
        </p:spPr>
        <p:txBody>
          <a:bodyPr>
            <a:normAutofit fontScale="90000"/>
          </a:bodyPr>
          <a:lstStyle/>
          <a:p>
            <a:r>
              <a:rPr lang="fr-FR" dirty="0">
                <a:solidFill>
                  <a:schemeClr val="bg1"/>
                </a:solidFill>
              </a:rPr>
              <a:t>Analyse univariée des prix des bouteilles</a:t>
            </a:r>
          </a:p>
        </p:txBody>
      </p:sp>
    </p:spTree>
    <p:extLst>
      <p:ext uri="{BB962C8B-B14F-4D97-AF65-F5344CB8AC3E}">
        <p14:creationId xmlns:p14="http://schemas.microsoft.com/office/powerpoint/2010/main" val="974220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p:nvPr/>
        </p:nvSpPr>
        <p:spPr>
          <a:xfrm>
            <a:off x="0" y="0"/>
            <a:ext cx="9144000" cy="1390200"/>
          </a:xfrm>
          <a:prstGeom prst="rect">
            <a:avLst/>
          </a:prstGeom>
          <a:solidFill>
            <a:srgbClr val="4D080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p:cNvSpPr txBox="1"/>
          <p:nvPr/>
        </p:nvSpPr>
        <p:spPr>
          <a:xfrm>
            <a:off x="895525" y="337250"/>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fr" sz="1800" b="1" i="0" u="none" strike="noStrike" cap="none"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1800" b="1" dirty="0">
                <a:solidFill>
                  <a:srgbClr val="F3F3F3"/>
                </a:solidFill>
                <a:latin typeface="Montserrat"/>
                <a:sym typeface="Montserrat"/>
              </a:rPr>
              <a:t>CA, quantités, stocks, taux de marge et correlations</a:t>
            </a:r>
            <a:endParaRPr sz="1800" b="1" dirty="0"/>
          </a:p>
        </p:txBody>
      </p:sp>
      <p:sp>
        <p:nvSpPr>
          <p:cNvPr id="89" name="Google Shape;89;p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p:cNvSpPr txBox="1">
            <a:spLocks noGrp="1"/>
          </p:cNvSpPr>
          <p:nvPr>
            <p:ph type="body" idx="1"/>
          </p:nvPr>
        </p:nvSpPr>
        <p:spPr>
          <a:xfrm>
            <a:off x="557279" y="1528607"/>
            <a:ext cx="6709500" cy="3416400"/>
          </a:xfrm>
          <a:prstGeom prst="rect">
            <a:avLst/>
          </a:prstGeom>
          <a:noFill/>
          <a:ln>
            <a:noFill/>
          </a:ln>
        </p:spPr>
        <p:txBody>
          <a:bodyPr spcFirstLastPara="1" wrap="square" lIns="91425" tIns="91425" rIns="91425" bIns="91425" anchor="t" anchorCtr="0">
            <a:normAutofit/>
          </a:bodyPr>
          <a:lstStyle/>
          <a:p>
            <a:pPr marL="114300" marR="0" lvl="0" indent="0" algn="l" rtl="0">
              <a:lnSpc>
                <a:spcPct val="115000"/>
              </a:lnSpc>
              <a:spcBef>
                <a:spcPts val="0"/>
              </a:spcBef>
              <a:spcAft>
                <a:spcPts val="0"/>
              </a:spcAft>
              <a:buClr>
                <a:srgbClr val="999999"/>
              </a:buClr>
              <a:buSzPts val="1800"/>
              <a:buNone/>
            </a:pPr>
            <a:r>
              <a:rPr lang="fr-FR" dirty="0">
                <a:solidFill>
                  <a:srgbClr val="434343"/>
                </a:solidFill>
                <a:latin typeface="Montserrat"/>
                <a:ea typeface="Montserrat"/>
                <a:cs typeface="Montserrat"/>
                <a:sym typeface="Montserrat"/>
              </a:rPr>
              <a:t>Méthodes et Statistiques</a:t>
            </a:r>
            <a:endParaRPr dirty="0">
              <a:solidFill>
                <a:srgbClr val="434343"/>
              </a:solidFill>
              <a:latin typeface="Montserrat"/>
              <a:ea typeface="Montserrat"/>
              <a:cs typeface="Montserrat"/>
              <a:sym typeface="Montserrat"/>
            </a:endParaRPr>
          </a:p>
        </p:txBody>
      </p:sp>
      <p:pic>
        <p:nvPicPr>
          <p:cNvPr id="2" name="Image 1">
            <a:extLst>
              <a:ext uri="{FF2B5EF4-FFF2-40B4-BE49-F238E27FC236}">
                <a16:creationId xmlns:a16="http://schemas.microsoft.com/office/drawing/2014/main" id="{62336CB6-093D-3A8D-9E42-9A699754C53C}"/>
              </a:ext>
            </a:extLst>
          </p:cNvPr>
          <p:cNvPicPr>
            <a:picLocks noChangeAspect="1"/>
          </p:cNvPicPr>
          <p:nvPr/>
        </p:nvPicPr>
        <p:blipFill>
          <a:blip r:embed="rId3"/>
          <a:stretch>
            <a:fillRect/>
          </a:stretch>
        </p:blipFill>
        <p:spPr>
          <a:xfrm>
            <a:off x="8223424" y="4509461"/>
            <a:ext cx="920576" cy="634039"/>
          </a:xfrm>
          <a:prstGeom prst="rect">
            <a:avLst/>
          </a:prstGeom>
        </p:spPr>
      </p:pic>
      <p:pic>
        <p:nvPicPr>
          <p:cNvPr id="4" name="Image 3">
            <a:extLst>
              <a:ext uri="{FF2B5EF4-FFF2-40B4-BE49-F238E27FC236}">
                <a16:creationId xmlns:a16="http://schemas.microsoft.com/office/drawing/2014/main" id="{7E46A08D-08F0-A285-EC68-E9A248B8021E}"/>
              </a:ext>
            </a:extLst>
          </p:cNvPr>
          <p:cNvPicPr>
            <a:picLocks noChangeAspect="1"/>
          </p:cNvPicPr>
          <p:nvPr/>
        </p:nvPicPr>
        <p:blipFill>
          <a:blip r:embed="rId4"/>
          <a:stretch>
            <a:fillRect/>
          </a:stretch>
        </p:blipFill>
        <p:spPr>
          <a:xfrm>
            <a:off x="618573" y="2276891"/>
            <a:ext cx="2362530" cy="1638529"/>
          </a:xfrm>
          <a:prstGeom prst="rect">
            <a:avLst/>
          </a:prstGeom>
        </p:spPr>
      </p:pic>
      <p:cxnSp>
        <p:nvCxnSpPr>
          <p:cNvPr id="6" name="Connecteur droit 5">
            <a:extLst>
              <a:ext uri="{FF2B5EF4-FFF2-40B4-BE49-F238E27FC236}">
                <a16:creationId xmlns:a16="http://schemas.microsoft.com/office/drawing/2014/main" id="{24F98CEE-B994-1DD4-D1C0-B9BA9CE3E7D0}"/>
              </a:ext>
            </a:extLst>
          </p:cNvPr>
          <p:cNvCxnSpPr/>
          <p:nvPr/>
        </p:nvCxnSpPr>
        <p:spPr>
          <a:xfrm>
            <a:off x="786984" y="1963711"/>
            <a:ext cx="4422098" cy="0"/>
          </a:xfrm>
          <a:prstGeom prst="line">
            <a:avLst/>
          </a:prstGeom>
          <a:ln>
            <a:solidFill>
              <a:srgbClr val="4D0801"/>
            </a:solidFill>
          </a:ln>
        </p:spPr>
        <p:style>
          <a:lnRef idx="1">
            <a:schemeClr val="accent1"/>
          </a:lnRef>
          <a:fillRef idx="0">
            <a:schemeClr val="accent1"/>
          </a:fillRef>
          <a:effectRef idx="0">
            <a:schemeClr val="accent1"/>
          </a:effectRef>
          <a:fontRef idx="minor">
            <a:schemeClr val="tx1"/>
          </a:fontRef>
        </p:style>
      </p:cxnSp>
      <p:pic>
        <p:nvPicPr>
          <p:cNvPr id="8" name="Image 7">
            <a:extLst>
              <a:ext uri="{FF2B5EF4-FFF2-40B4-BE49-F238E27FC236}">
                <a16:creationId xmlns:a16="http://schemas.microsoft.com/office/drawing/2014/main" id="{E72CF1BF-8FBD-ABF1-9CDA-0BBAC5591873}"/>
              </a:ext>
            </a:extLst>
          </p:cNvPr>
          <p:cNvPicPr>
            <a:picLocks noChangeAspect="1"/>
          </p:cNvPicPr>
          <p:nvPr/>
        </p:nvPicPr>
        <p:blipFill>
          <a:blip r:embed="rId5"/>
          <a:stretch>
            <a:fillRect/>
          </a:stretch>
        </p:blipFill>
        <p:spPr>
          <a:xfrm>
            <a:off x="4244546" y="3604349"/>
            <a:ext cx="2438740" cy="628738"/>
          </a:xfrm>
          <a:prstGeom prst="rect">
            <a:avLst/>
          </a:prstGeom>
        </p:spPr>
      </p:pic>
      <p:pic>
        <p:nvPicPr>
          <p:cNvPr id="10" name="Image 9">
            <a:extLst>
              <a:ext uri="{FF2B5EF4-FFF2-40B4-BE49-F238E27FC236}">
                <a16:creationId xmlns:a16="http://schemas.microsoft.com/office/drawing/2014/main" id="{C0B017A3-716D-B52E-9987-F82155EF9BF6}"/>
              </a:ext>
            </a:extLst>
          </p:cNvPr>
          <p:cNvPicPr>
            <a:picLocks noChangeAspect="1"/>
          </p:cNvPicPr>
          <p:nvPr/>
        </p:nvPicPr>
        <p:blipFill>
          <a:blip r:embed="rId6"/>
          <a:stretch>
            <a:fillRect/>
          </a:stretch>
        </p:blipFill>
        <p:spPr>
          <a:xfrm>
            <a:off x="4146279" y="2366425"/>
            <a:ext cx="3181794" cy="1028844"/>
          </a:xfrm>
          <a:prstGeom prst="rect">
            <a:avLst/>
          </a:prstGeom>
        </p:spPr>
      </p:pic>
      <p:sp>
        <p:nvSpPr>
          <p:cNvPr id="11" name="ZoneTexte 10">
            <a:extLst>
              <a:ext uri="{FF2B5EF4-FFF2-40B4-BE49-F238E27FC236}">
                <a16:creationId xmlns:a16="http://schemas.microsoft.com/office/drawing/2014/main" id="{4FB9EC88-313C-BE55-8AF2-D9245CAE210A}"/>
              </a:ext>
            </a:extLst>
          </p:cNvPr>
          <p:cNvSpPr txBox="1"/>
          <p:nvPr/>
        </p:nvSpPr>
        <p:spPr>
          <a:xfrm>
            <a:off x="618573" y="4518703"/>
            <a:ext cx="6936514" cy="307777"/>
          </a:xfrm>
          <a:prstGeom prst="rect">
            <a:avLst/>
          </a:prstGeom>
          <a:noFill/>
        </p:spPr>
        <p:txBody>
          <a:bodyPr wrap="none" rtlCol="0">
            <a:spAutoFit/>
          </a:bodyPr>
          <a:lstStyle/>
          <a:p>
            <a:r>
              <a:rPr lang="fr-FR" i="1" dirty="0">
                <a:solidFill>
                  <a:schemeClr val="bg2"/>
                </a:solidFill>
                <a:latin typeface="Montserrat" panose="00000500000000000000" pitchFamily="2" charset="0"/>
              </a:rPr>
              <a:t>Outils de visualisations : diagrammes en barres et </a:t>
            </a:r>
            <a:r>
              <a:rPr lang="fr-FR" i="1" dirty="0" err="1">
                <a:solidFill>
                  <a:schemeClr val="bg2"/>
                </a:solidFill>
                <a:latin typeface="Montserrat" panose="00000500000000000000" pitchFamily="2" charset="0"/>
              </a:rPr>
              <a:t>heatmap</a:t>
            </a:r>
            <a:r>
              <a:rPr lang="fr-FR" i="1" dirty="0">
                <a:solidFill>
                  <a:schemeClr val="bg2"/>
                </a:solidFill>
                <a:latin typeface="Montserrat" panose="00000500000000000000" pitchFamily="2" charset="0"/>
              </a:rPr>
              <a:t> de corrélation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B84B47-70E7-2713-ED97-387BA1D0B1CB}"/>
              </a:ext>
            </a:extLst>
          </p:cNvPr>
          <p:cNvSpPr>
            <a:spLocks noGrp="1"/>
          </p:cNvSpPr>
          <p:nvPr>
            <p:ph type="title"/>
          </p:nvPr>
        </p:nvSpPr>
        <p:spPr>
          <a:xfrm>
            <a:off x="0" y="-3059"/>
            <a:ext cx="9144000" cy="572700"/>
          </a:xfrm>
          <a:solidFill>
            <a:srgbClr val="4D0801"/>
          </a:solidFill>
        </p:spPr>
        <p:txBody>
          <a:bodyPr>
            <a:normAutofit fontScale="90000"/>
          </a:bodyPr>
          <a:lstStyle/>
          <a:p>
            <a:r>
              <a:rPr lang="fr-FR" dirty="0">
                <a:solidFill>
                  <a:schemeClr val="bg1"/>
                </a:solidFill>
              </a:rPr>
              <a:t>Analyse du chiffre d’affaires du site web</a:t>
            </a:r>
          </a:p>
        </p:txBody>
      </p:sp>
      <p:pic>
        <p:nvPicPr>
          <p:cNvPr id="5" name="Image 4">
            <a:hlinkClick r:id="rId2"/>
            <a:extLst>
              <a:ext uri="{FF2B5EF4-FFF2-40B4-BE49-F238E27FC236}">
                <a16:creationId xmlns:a16="http://schemas.microsoft.com/office/drawing/2014/main" id="{89FFB5FA-D0DE-8442-3AE6-B9FD934D59F7}"/>
              </a:ext>
            </a:extLst>
          </p:cNvPr>
          <p:cNvPicPr>
            <a:picLocks noChangeAspect="1"/>
          </p:cNvPicPr>
          <p:nvPr/>
        </p:nvPicPr>
        <p:blipFill>
          <a:blip r:embed="rId3"/>
          <a:srcRect t="6874" b="7056"/>
          <a:stretch>
            <a:fillRect/>
          </a:stretch>
        </p:blipFill>
        <p:spPr>
          <a:xfrm>
            <a:off x="0" y="569640"/>
            <a:ext cx="9144000" cy="3432733"/>
          </a:xfrm>
          <a:prstGeom prst="rect">
            <a:avLst/>
          </a:prstGeom>
          <a:ln>
            <a:noFill/>
          </a:ln>
        </p:spPr>
      </p:pic>
      <p:sp>
        <p:nvSpPr>
          <p:cNvPr id="7" name="ZoneTexte 6">
            <a:extLst>
              <a:ext uri="{FF2B5EF4-FFF2-40B4-BE49-F238E27FC236}">
                <a16:creationId xmlns:a16="http://schemas.microsoft.com/office/drawing/2014/main" id="{5745F5E9-3DD4-D646-12AD-57BE1B453AE7}"/>
              </a:ext>
            </a:extLst>
          </p:cNvPr>
          <p:cNvSpPr txBox="1"/>
          <p:nvPr/>
        </p:nvSpPr>
        <p:spPr>
          <a:xfrm>
            <a:off x="146858" y="4204527"/>
            <a:ext cx="8880764" cy="830997"/>
          </a:xfrm>
          <a:prstGeom prst="rect">
            <a:avLst/>
          </a:prstGeom>
          <a:noFill/>
        </p:spPr>
        <p:txBody>
          <a:bodyPr wrap="square">
            <a:spAutoFit/>
          </a:bodyPr>
          <a:lstStyle/>
          <a:p>
            <a:pPr marL="285750" indent="-285750">
              <a:buFont typeface="Wingdings 3" panose="05040102010807070707" pitchFamily="18" charset="2"/>
              <a:buChar char=""/>
            </a:pPr>
            <a:r>
              <a:rPr lang="fr-FR" i="1" dirty="0">
                <a:solidFill>
                  <a:schemeClr val="bg2"/>
                </a:solidFill>
              </a:rPr>
              <a:t>Le CA est fortement concentré sur quelques références, ce qui justifie la réalisation d’une analyse de type Pareto (20/80) afin d’identifier les produits stratégiques.</a:t>
            </a:r>
          </a:p>
          <a:p>
            <a:pPr marL="285750" indent="-285750">
              <a:buFont typeface="Wingdings 3" panose="05040102010807070707" pitchFamily="18" charset="2"/>
              <a:buChar char=""/>
            </a:pPr>
            <a:endParaRPr lang="fr-FR" sz="500" i="1" dirty="0">
              <a:solidFill>
                <a:schemeClr val="bg2"/>
              </a:solidFill>
            </a:endParaRPr>
          </a:p>
          <a:p>
            <a:pPr marL="285750" indent="-285750">
              <a:buFont typeface="Wingdings 3" panose="05040102010807070707" pitchFamily="18" charset="2"/>
              <a:buChar char=""/>
            </a:pPr>
            <a:endParaRPr lang="fr-FR" sz="100" i="1" dirty="0">
              <a:solidFill>
                <a:schemeClr val="bg2"/>
              </a:solidFill>
            </a:endParaRPr>
          </a:p>
          <a:p>
            <a:r>
              <a:rPr kumimoji="0" lang="fr-FR" sz="1400" b="0" i="1" u="none" strike="noStrike" kern="0" cap="none" spc="0" normalizeH="0" baseline="0" noProof="0" dirty="0">
                <a:ln>
                  <a:noFill/>
                </a:ln>
                <a:solidFill>
                  <a:schemeClr val="bg2"/>
                </a:solidFill>
                <a:effectLst/>
                <a:uLnTx/>
                <a:uFillTx/>
                <a:latin typeface="Arial"/>
                <a:cs typeface="Arial"/>
                <a:sym typeface="Wingdings 3" panose="05040102010807070707" pitchFamily="18" charset="2"/>
              </a:rPr>
              <a:t> </a:t>
            </a:r>
            <a:r>
              <a:rPr lang="fr-FR" b="1" i="1" dirty="0">
                <a:solidFill>
                  <a:schemeClr val="bg2"/>
                </a:solidFill>
              </a:rPr>
              <a:t>Le CA total réalisé sur le site web entre le 1er et le 31 octobre s’élève à 153 748.10 €.</a:t>
            </a:r>
          </a:p>
        </p:txBody>
      </p:sp>
      <p:pic>
        <p:nvPicPr>
          <p:cNvPr id="3" name="Image 2">
            <a:extLst>
              <a:ext uri="{FF2B5EF4-FFF2-40B4-BE49-F238E27FC236}">
                <a16:creationId xmlns:a16="http://schemas.microsoft.com/office/drawing/2014/main" id="{0EAE39D2-3829-2084-C9B7-0947AA8F37E4}"/>
              </a:ext>
            </a:extLst>
          </p:cNvPr>
          <p:cNvPicPr>
            <a:picLocks noChangeAspect="1"/>
          </p:cNvPicPr>
          <p:nvPr/>
        </p:nvPicPr>
        <p:blipFill>
          <a:blip r:embed="rId4"/>
          <a:stretch>
            <a:fillRect/>
          </a:stretch>
        </p:blipFill>
        <p:spPr>
          <a:xfrm>
            <a:off x="8223424" y="4509461"/>
            <a:ext cx="920576" cy="634039"/>
          </a:xfrm>
          <a:prstGeom prst="rect">
            <a:avLst/>
          </a:prstGeom>
        </p:spPr>
      </p:pic>
    </p:spTree>
    <p:extLst>
      <p:ext uri="{BB962C8B-B14F-4D97-AF65-F5344CB8AC3E}">
        <p14:creationId xmlns:p14="http://schemas.microsoft.com/office/powerpoint/2010/main" val="2324731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70767-DF23-DEF8-C55B-8CAD8BFA784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D7E4E83-9255-0C0F-C67A-1F7617D92538}"/>
              </a:ext>
            </a:extLst>
          </p:cNvPr>
          <p:cNvSpPr>
            <a:spLocks noGrp="1"/>
          </p:cNvSpPr>
          <p:nvPr>
            <p:ph type="title"/>
          </p:nvPr>
        </p:nvSpPr>
        <p:spPr>
          <a:xfrm>
            <a:off x="0" y="-3059"/>
            <a:ext cx="9144000" cy="572700"/>
          </a:xfrm>
          <a:solidFill>
            <a:srgbClr val="4D0801"/>
          </a:solidFill>
        </p:spPr>
        <p:txBody>
          <a:bodyPr>
            <a:normAutofit fontScale="90000"/>
          </a:bodyPr>
          <a:lstStyle/>
          <a:p>
            <a:r>
              <a:rPr lang="fr-FR" dirty="0">
                <a:solidFill>
                  <a:schemeClr val="bg1"/>
                </a:solidFill>
              </a:rPr>
              <a:t>Top 20 des vins les plus vendus (en nombre de bouteilles)</a:t>
            </a:r>
          </a:p>
        </p:txBody>
      </p:sp>
      <p:sp>
        <p:nvSpPr>
          <p:cNvPr id="7" name="ZoneTexte 6">
            <a:extLst>
              <a:ext uri="{FF2B5EF4-FFF2-40B4-BE49-F238E27FC236}">
                <a16:creationId xmlns:a16="http://schemas.microsoft.com/office/drawing/2014/main" id="{AD1828B2-392D-0C9C-2AB1-CA76DAF304A3}"/>
              </a:ext>
            </a:extLst>
          </p:cNvPr>
          <p:cNvSpPr txBox="1"/>
          <p:nvPr/>
        </p:nvSpPr>
        <p:spPr>
          <a:xfrm>
            <a:off x="106930" y="4247851"/>
            <a:ext cx="9144000" cy="523220"/>
          </a:xfrm>
          <a:prstGeom prst="rect">
            <a:avLst/>
          </a:prstGeom>
          <a:noFill/>
        </p:spPr>
        <p:txBody>
          <a:bodyPr wrap="square">
            <a:spAutoFit/>
          </a:bodyPr>
          <a:lstStyle/>
          <a:p>
            <a:r>
              <a:rPr lang="fr-FR" dirty="0">
                <a:solidFill>
                  <a:schemeClr val="tx1"/>
                </a:solidFill>
              </a:rPr>
              <a:t>Les références les plus vendues en volume ne sont pas nécessairement celles qui génèrent le plus de chiffre d’affaires. Cette analyse permet d’identifier les produits les plus demandés en nombre de bouteilles.</a:t>
            </a:r>
          </a:p>
        </p:txBody>
      </p:sp>
      <p:pic>
        <p:nvPicPr>
          <p:cNvPr id="4" name="Image 3">
            <a:hlinkClick r:id="rId3"/>
            <a:extLst>
              <a:ext uri="{FF2B5EF4-FFF2-40B4-BE49-F238E27FC236}">
                <a16:creationId xmlns:a16="http://schemas.microsoft.com/office/drawing/2014/main" id="{5AA3C7FD-8867-33B4-4C79-9FB6A209A48C}"/>
              </a:ext>
            </a:extLst>
          </p:cNvPr>
          <p:cNvPicPr>
            <a:picLocks noChangeAspect="1"/>
          </p:cNvPicPr>
          <p:nvPr/>
        </p:nvPicPr>
        <p:blipFill>
          <a:blip r:embed="rId4"/>
          <a:srcRect t="4952" b="7004"/>
          <a:stretch>
            <a:fillRect/>
          </a:stretch>
        </p:blipFill>
        <p:spPr>
          <a:xfrm>
            <a:off x="0" y="569640"/>
            <a:ext cx="9144000" cy="3514679"/>
          </a:xfrm>
          <a:prstGeom prst="rect">
            <a:avLst/>
          </a:prstGeom>
        </p:spPr>
      </p:pic>
      <p:pic>
        <p:nvPicPr>
          <p:cNvPr id="3" name="Image 2">
            <a:extLst>
              <a:ext uri="{FF2B5EF4-FFF2-40B4-BE49-F238E27FC236}">
                <a16:creationId xmlns:a16="http://schemas.microsoft.com/office/drawing/2014/main" id="{8408CE53-310F-7D0D-5CE0-36923F58A26C}"/>
              </a:ext>
            </a:extLst>
          </p:cNvPr>
          <p:cNvPicPr>
            <a:picLocks noChangeAspect="1"/>
          </p:cNvPicPr>
          <p:nvPr/>
        </p:nvPicPr>
        <p:blipFill>
          <a:blip r:embed="rId5"/>
          <a:stretch>
            <a:fillRect/>
          </a:stretch>
        </p:blipFill>
        <p:spPr>
          <a:xfrm>
            <a:off x="8223424" y="4509461"/>
            <a:ext cx="920576" cy="634039"/>
          </a:xfrm>
          <a:prstGeom prst="rect">
            <a:avLst/>
          </a:prstGeom>
        </p:spPr>
      </p:pic>
    </p:spTree>
    <p:extLst>
      <p:ext uri="{BB962C8B-B14F-4D97-AF65-F5344CB8AC3E}">
        <p14:creationId xmlns:p14="http://schemas.microsoft.com/office/powerpoint/2010/main" val="3979062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A6B80-213F-E53F-F989-A405CEBC6A1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D51D2D4-CF1C-60CA-D9FB-26806D57FA7C}"/>
              </a:ext>
            </a:extLst>
          </p:cNvPr>
          <p:cNvSpPr>
            <a:spLocks noGrp="1"/>
          </p:cNvSpPr>
          <p:nvPr>
            <p:ph type="title"/>
          </p:nvPr>
        </p:nvSpPr>
        <p:spPr>
          <a:xfrm>
            <a:off x="0" y="-3059"/>
            <a:ext cx="9144000" cy="572700"/>
          </a:xfrm>
          <a:solidFill>
            <a:srgbClr val="4D0801"/>
          </a:solidFill>
        </p:spPr>
        <p:txBody>
          <a:bodyPr>
            <a:normAutofit fontScale="90000"/>
          </a:bodyPr>
          <a:lstStyle/>
          <a:p>
            <a:r>
              <a:rPr lang="fr-FR" dirty="0">
                <a:solidFill>
                  <a:schemeClr val="bg1"/>
                </a:solidFill>
              </a:rPr>
              <a:t>Top 20 des vins avec la durée de stockage la plus élevée</a:t>
            </a:r>
          </a:p>
        </p:txBody>
      </p:sp>
      <p:sp>
        <p:nvSpPr>
          <p:cNvPr id="7" name="ZoneTexte 6">
            <a:extLst>
              <a:ext uri="{FF2B5EF4-FFF2-40B4-BE49-F238E27FC236}">
                <a16:creationId xmlns:a16="http://schemas.microsoft.com/office/drawing/2014/main" id="{21E9EA96-16AB-4C74-6AFF-32D1AA8BAD13}"/>
              </a:ext>
            </a:extLst>
          </p:cNvPr>
          <p:cNvSpPr txBox="1"/>
          <p:nvPr/>
        </p:nvSpPr>
        <p:spPr>
          <a:xfrm>
            <a:off x="120613" y="4443192"/>
            <a:ext cx="8563099" cy="461665"/>
          </a:xfrm>
          <a:prstGeom prst="rect">
            <a:avLst/>
          </a:prstGeom>
          <a:noFill/>
        </p:spPr>
        <p:txBody>
          <a:bodyPr wrap="square">
            <a:spAutoFit/>
          </a:bodyPr>
          <a:lstStyle/>
          <a:p>
            <a:r>
              <a:rPr lang="fr-FR" sz="1200" dirty="0"/>
              <a:t>Certains vins restent stockés plus de 20 mois, indiquant une rotation lente et un possible surstock. Cette analyse complète celle du chiffre d’affaires en distinguant volume et valeur.</a:t>
            </a:r>
            <a:endParaRPr lang="fr-FR" sz="1200" dirty="0">
              <a:solidFill>
                <a:srgbClr val="4D0801"/>
              </a:solidFill>
            </a:endParaRPr>
          </a:p>
        </p:txBody>
      </p:sp>
      <p:pic>
        <p:nvPicPr>
          <p:cNvPr id="5" name="Image 4">
            <a:hlinkClick r:id="rId2"/>
            <a:extLst>
              <a:ext uri="{FF2B5EF4-FFF2-40B4-BE49-F238E27FC236}">
                <a16:creationId xmlns:a16="http://schemas.microsoft.com/office/drawing/2014/main" id="{0A243F4C-F830-09DA-E0BB-D07945F41676}"/>
              </a:ext>
            </a:extLst>
          </p:cNvPr>
          <p:cNvPicPr>
            <a:picLocks noChangeAspect="1"/>
          </p:cNvPicPr>
          <p:nvPr/>
        </p:nvPicPr>
        <p:blipFill>
          <a:blip r:embed="rId3"/>
          <a:srcRect t="6903"/>
          <a:stretch>
            <a:fillRect/>
          </a:stretch>
        </p:blipFill>
        <p:spPr>
          <a:xfrm>
            <a:off x="0" y="569641"/>
            <a:ext cx="9144000" cy="3627890"/>
          </a:xfrm>
          <a:prstGeom prst="rect">
            <a:avLst/>
          </a:prstGeom>
          <a:ln>
            <a:noFill/>
          </a:ln>
        </p:spPr>
      </p:pic>
      <p:pic>
        <p:nvPicPr>
          <p:cNvPr id="3" name="Image 2">
            <a:extLst>
              <a:ext uri="{FF2B5EF4-FFF2-40B4-BE49-F238E27FC236}">
                <a16:creationId xmlns:a16="http://schemas.microsoft.com/office/drawing/2014/main" id="{2C2EB58F-81B6-0EA8-6F4E-4D02D6499663}"/>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223424" y="4509461"/>
            <a:ext cx="920576" cy="634039"/>
          </a:xfrm>
          <a:prstGeom prst="rect">
            <a:avLst/>
          </a:prstGeom>
        </p:spPr>
      </p:pic>
    </p:spTree>
    <p:extLst>
      <p:ext uri="{BB962C8B-B14F-4D97-AF65-F5344CB8AC3E}">
        <p14:creationId xmlns:p14="http://schemas.microsoft.com/office/powerpoint/2010/main" val="4210110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B6139-4397-9ABC-9992-0E47D90A215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D21A24-8EE0-3E59-54A2-5FD8D8A57E44}"/>
              </a:ext>
            </a:extLst>
          </p:cNvPr>
          <p:cNvSpPr>
            <a:spLocks noGrp="1"/>
          </p:cNvSpPr>
          <p:nvPr>
            <p:ph type="title"/>
          </p:nvPr>
        </p:nvSpPr>
        <p:spPr>
          <a:xfrm>
            <a:off x="0" y="-3059"/>
            <a:ext cx="9144000" cy="572700"/>
          </a:xfrm>
          <a:solidFill>
            <a:srgbClr val="4D0801"/>
          </a:solidFill>
        </p:spPr>
        <p:txBody>
          <a:bodyPr>
            <a:normAutofit fontScale="90000"/>
          </a:bodyPr>
          <a:lstStyle/>
          <a:p>
            <a:r>
              <a:rPr lang="fr-FR" dirty="0">
                <a:solidFill>
                  <a:schemeClr val="bg1"/>
                </a:solidFill>
              </a:rPr>
              <a:t>Analyse du taux de marge</a:t>
            </a:r>
          </a:p>
        </p:txBody>
      </p:sp>
      <p:sp>
        <p:nvSpPr>
          <p:cNvPr id="7" name="ZoneTexte 6">
            <a:extLst>
              <a:ext uri="{FF2B5EF4-FFF2-40B4-BE49-F238E27FC236}">
                <a16:creationId xmlns:a16="http://schemas.microsoft.com/office/drawing/2014/main" id="{3160C6AC-BB04-B9A2-3D15-70C07C645F34}"/>
              </a:ext>
            </a:extLst>
          </p:cNvPr>
          <p:cNvSpPr txBox="1"/>
          <p:nvPr/>
        </p:nvSpPr>
        <p:spPr>
          <a:xfrm>
            <a:off x="95794" y="4395731"/>
            <a:ext cx="9144000" cy="523220"/>
          </a:xfrm>
          <a:prstGeom prst="rect">
            <a:avLst/>
          </a:prstGeom>
          <a:noFill/>
        </p:spPr>
        <p:txBody>
          <a:bodyPr wrap="square">
            <a:spAutoFit/>
          </a:bodyPr>
          <a:lstStyle/>
          <a:p>
            <a:r>
              <a:rPr lang="fr-FR" dirty="0"/>
              <a:t>Le taux de marge varie selon les catégories. Les spiritueux comme le Cognac ou le Whisky présentent des marges plus élevées, ce qui peut orienter les décisions commerciales.</a:t>
            </a:r>
            <a:endParaRPr lang="fr-FR" dirty="0">
              <a:solidFill>
                <a:srgbClr val="4D0801"/>
              </a:solidFill>
            </a:endParaRPr>
          </a:p>
        </p:txBody>
      </p:sp>
      <p:pic>
        <p:nvPicPr>
          <p:cNvPr id="10" name="Image 9">
            <a:hlinkClick r:id="rId2"/>
            <a:extLst>
              <a:ext uri="{FF2B5EF4-FFF2-40B4-BE49-F238E27FC236}">
                <a16:creationId xmlns:a16="http://schemas.microsoft.com/office/drawing/2014/main" id="{B210A115-54A2-37B8-D6CB-40339ECDFAE4}"/>
              </a:ext>
            </a:extLst>
          </p:cNvPr>
          <p:cNvPicPr>
            <a:picLocks noChangeAspect="1"/>
          </p:cNvPicPr>
          <p:nvPr/>
        </p:nvPicPr>
        <p:blipFill>
          <a:blip r:embed="rId3"/>
          <a:stretch>
            <a:fillRect/>
          </a:stretch>
        </p:blipFill>
        <p:spPr>
          <a:xfrm>
            <a:off x="411480" y="593003"/>
            <a:ext cx="8321040" cy="3719717"/>
          </a:xfrm>
          <a:prstGeom prst="rect">
            <a:avLst/>
          </a:prstGeom>
        </p:spPr>
      </p:pic>
      <p:sp>
        <p:nvSpPr>
          <p:cNvPr id="11" name="ZoneTexte 10">
            <a:extLst>
              <a:ext uri="{FF2B5EF4-FFF2-40B4-BE49-F238E27FC236}">
                <a16:creationId xmlns:a16="http://schemas.microsoft.com/office/drawing/2014/main" id="{F32DEB46-36EC-94A7-F51D-6CF5B8C00C98}"/>
              </a:ext>
            </a:extLst>
          </p:cNvPr>
          <p:cNvSpPr txBox="1"/>
          <p:nvPr/>
        </p:nvSpPr>
        <p:spPr>
          <a:xfrm>
            <a:off x="3233651" y="747769"/>
            <a:ext cx="3882043" cy="215444"/>
          </a:xfrm>
          <a:prstGeom prst="rect">
            <a:avLst/>
          </a:prstGeom>
          <a:noFill/>
        </p:spPr>
        <p:txBody>
          <a:bodyPr wrap="square" rtlCol="0">
            <a:spAutoFit/>
          </a:bodyPr>
          <a:lstStyle/>
          <a:p>
            <a:r>
              <a:rPr lang="fr-FR" sz="800" dirty="0"/>
              <a:t>Taux de marge = (prix de vente – prix d’achat) / prix d’achat.</a:t>
            </a:r>
          </a:p>
        </p:txBody>
      </p:sp>
      <p:pic>
        <p:nvPicPr>
          <p:cNvPr id="3" name="Image 2">
            <a:extLst>
              <a:ext uri="{FF2B5EF4-FFF2-40B4-BE49-F238E27FC236}">
                <a16:creationId xmlns:a16="http://schemas.microsoft.com/office/drawing/2014/main" id="{6599C83B-72A6-3C24-81EC-B29103AF8BD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223424" y="4509461"/>
            <a:ext cx="920576" cy="634039"/>
          </a:xfrm>
          <a:prstGeom prst="rect">
            <a:avLst/>
          </a:prstGeom>
        </p:spPr>
      </p:pic>
    </p:spTree>
    <p:extLst>
      <p:ext uri="{BB962C8B-B14F-4D97-AF65-F5344CB8AC3E}">
        <p14:creationId xmlns:p14="http://schemas.microsoft.com/office/powerpoint/2010/main" val="308537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ADE7D-5FFE-ADD1-861E-B5895EA0C5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5C58AD0-6541-B6F1-B239-E88FD7553FEA}"/>
              </a:ext>
            </a:extLst>
          </p:cNvPr>
          <p:cNvSpPr>
            <a:spLocks noGrp="1"/>
          </p:cNvSpPr>
          <p:nvPr>
            <p:ph type="title"/>
          </p:nvPr>
        </p:nvSpPr>
        <p:spPr>
          <a:xfrm>
            <a:off x="0" y="-3059"/>
            <a:ext cx="9144000" cy="572700"/>
          </a:xfrm>
          <a:solidFill>
            <a:srgbClr val="4D0801"/>
          </a:solidFill>
        </p:spPr>
        <p:txBody>
          <a:bodyPr>
            <a:normAutofit fontScale="90000"/>
          </a:bodyPr>
          <a:lstStyle/>
          <a:p>
            <a:r>
              <a:rPr lang="fr-FR" dirty="0">
                <a:solidFill>
                  <a:schemeClr val="bg1"/>
                </a:solidFill>
              </a:rPr>
              <a:t>Analyse des corrélations entre prix, ventes et stocks</a:t>
            </a:r>
          </a:p>
        </p:txBody>
      </p:sp>
      <p:sp>
        <p:nvSpPr>
          <p:cNvPr id="7" name="ZoneTexte 6">
            <a:extLst>
              <a:ext uri="{FF2B5EF4-FFF2-40B4-BE49-F238E27FC236}">
                <a16:creationId xmlns:a16="http://schemas.microsoft.com/office/drawing/2014/main" id="{55621EFD-3848-C55C-247E-B493EBC4432D}"/>
              </a:ext>
            </a:extLst>
          </p:cNvPr>
          <p:cNvSpPr txBox="1"/>
          <p:nvPr/>
        </p:nvSpPr>
        <p:spPr>
          <a:xfrm>
            <a:off x="78377" y="4266413"/>
            <a:ext cx="9144000" cy="738664"/>
          </a:xfrm>
          <a:prstGeom prst="rect">
            <a:avLst/>
          </a:prstGeom>
          <a:noFill/>
        </p:spPr>
        <p:txBody>
          <a:bodyPr wrap="square">
            <a:spAutoFit/>
          </a:bodyPr>
          <a:lstStyle/>
          <a:p>
            <a:r>
              <a:rPr lang="fr-FR" dirty="0"/>
              <a:t>Les corrélations sont faibles : le prix est légèrement négativement lié aux ventes (-0,27) et les ventes sont faiblement positives avec les stocks (0,29). Ces résultats indiquent des tendances générales sans relation causale directe.</a:t>
            </a:r>
            <a:endParaRPr lang="fr-FR" dirty="0">
              <a:solidFill>
                <a:srgbClr val="4D0801"/>
              </a:solidFill>
            </a:endParaRPr>
          </a:p>
        </p:txBody>
      </p:sp>
      <p:pic>
        <p:nvPicPr>
          <p:cNvPr id="5" name="Image 4">
            <a:extLst>
              <a:ext uri="{FF2B5EF4-FFF2-40B4-BE49-F238E27FC236}">
                <a16:creationId xmlns:a16="http://schemas.microsoft.com/office/drawing/2014/main" id="{5908A0CF-B8BF-97F2-C8D0-DD3EF2911A45}"/>
              </a:ext>
            </a:extLst>
          </p:cNvPr>
          <p:cNvPicPr>
            <a:picLocks noChangeAspect="1"/>
          </p:cNvPicPr>
          <p:nvPr/>
        </p:nvPicPr>
        <p:blipFill>
          <a:blip r:embed="rId2"/>
          <a:stretch>
            <a:fillRect/>
          </a:stretch>
        </p:blipFill>
        <p:spPr>
          <a:xfrm>
            <a:off x="2144077" y="569641"/>
            <a:ext cx="4733925" cy="3562350"/>
          </a:xfrm>
          <a:prstGeom prst="rect">
            <a:avLst/>
          </a:prstGeom>
        </p:spPr>
      </p:pic>
      <p:pic>
        <p:nvPicPr>
          <p:cNvPr id="3" name="Image 2">
            <a:extLst>
              <a:ext uri="{FF2B5EF4-FFF2-40B4-BE49-F238E27FC236}">
                <a16:creationId xmlns:a16="http://schemas.microsoft.com/office/drawing/2014/main" id="{26312267-5154-BF19-A0C2-89A0DCFD459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223424" y="4509461"/>
            <a:ext cx="920576" cy="634039"/>
          </a:xfrm>
          <a:prstGeom prst="rect">
            <a:avLst/>
          </a:prstGeom>
        </p:spPr>
      </p:pic>
    </p:spTree>
    <p:extLst>
      <p:ext uri="{BB962C8B-B14F-4D97-AF65-F5344CB8AC3E}">
        <p14:creationId xmlns:p14="http://schemas.microsoft.com/office/powerpoint/2010/main" val="252078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816DE9-F3C3-B02A-2195-5C22E9C571EE}"/>
              </a:ext>
            </a:extLst>
          </p:cNvPr>
          <p:cNvSpPr>
            <a:spLocks noGrp="1"/>
          </p:cNvSpPr>
          <p:nvPr>
            <p:ph type="title"/>
          </p:nvPr>
        </p:nvSpPr>
        <p:spPr>
          <a:xfrm>
            <a:off x="11907" y="-34630"/>
            <a:ext cx="9144000" cy="1040875"/>
          </a:xfrm>
          <a:solidFill>
            <a:srgbClr val="4D0801"/>
          </a:solidFill>
        </p:spPr>
        <p:txBody>
          <a:bodyPr>
            <a:normAutofit fontScale="90000"/>
          </a:bodyPr>
          <a:lstStyle/>
          <a:p>
            <a:pPr algn="ctr"/>
            <a:r>
              <a:rPr lang="fr-FR" dirty="0">
                <a:solidFill>
                  <a:schemeClr val="bg1"/>
                </a:solidFill>
              </a:rPr>
              <a:t>Structure du catalogue et contribution au chiffre d’affaires</a:t>
            </a:r>
            <a:br>
              <a:rPr lang="fr-FR" dirty="0">
                <a:solidFill>
                  <a:schemeClr val="bg1"/>
                </a:solidFill>
              </a:rPr>
            </a:br>
            <a:r>
              <a:rPr lang="fr-FR" dirty="0">
                <a:solidFill>
                  <a:schemeClr val="bg1"/>
                </a:solidFill>
              </a:rPr>
              <a:t> Analyse Pareto</a:t>
            </a:r>
            <a:br>
              <a:rPr lang="fr-FR" dirty="0"/>
            </a:br>
            <a:endParaRPr lang="fr-FR" dirty="0"/>
          </a:p>
        </p:txBody>
      </p:sp>
      <p:sp>
        <p:nvSpPr>
          <p:cNvPr id="5" name="ZoneTexte 4">
            <a:extLst>
              <a:ext uri="{FF2B5EF4-FFF2-40B4-BE49-F238E27FC236}">
                <a16:creationId xmlns:a16="http://schemas.microsoft.com/office/drawing/2014/main" id="{11AC7425-A1D6-A892-D4D7-C562AB81455C}"/>
              </a:ext>
            </a:extLst>
          </p:cNvPr>
          <p:cNvSpPr txBox="1"/>
          <p:nvPr/>
        </p:nvSpPr>
        <p:spPr>
          <a:xfrm>
            <a:off x="2286000" y="2072015"/>
            <a:ext cx="4572000" cy="307777"/>
          </a:xfrm>
          <a:prstGeom prst="rect">
            <a:avLst/>
          </a:prstGeom>
          <a:noFill/>
        </p:spPr>
        <p:txBody>
          <a:bodyPr wrap="square">
            <a:spAutoFit/>
          </a:bodyPr>
          <a:lstStyle/>
          <a:p>
            <a:endParaRPr lang="fr-FR" dirty="0"/>
          </a:p>
        </p:txBody>
      </p:sp>
      <p:sp>
        <p:nvSpPr>
          <p:cNvPr id="7" name="ZoneTexte 6">
            <a:extLst>
              <a:ext uri="{FF2B5EF4-FFF2-40B4-BE49-F238E27FC236}">
                <a16:creationId xmlns:a16="http://schemas.microsoft.com/office/drawing/2014/main" id="{4B37C3CF-ABE3-DA00-3D66-EA3685610A2E}"/>
              </a:ext>
            </a:extLst>
          </p:cNvPr>
          <p:cNvSpPr txBox="1"/>
          <p:nvPr/>
        </p:nvSpPr>
        <p:spPr>
          <a:xfrm>
            <a:off x="-169069" y="1175028"/>
            <a:ext cx="3299222" cy="1415772"/>
          </a:xfrm>
          <a:prstGeom prst="rect">
            <a:avLst/>
          </a:prstGeom>
          <a:noFill/>
        </p:spPr>
        <p:txBody>
          <a:bodyPr wrap="square">
            <a:spAutoFit/>
          </a:bodyPr>
          <a:lstStyle/>
          <a:p>
            <a:r>
              <a:rPr lang="fr-FR" sz="1600" b="1" dirty="0"/>
              <a:t>    🍾 Produits premium</a:t>
            </a:r>
          </a:p>
          <a:p>
            <a:endParaRPr lang="fr-FR" sz="600" b="1" dirty="0"/>
          </a:p>
          <a:p>
            <a:r>
              <a:rPr lang="fr-FR" sz="1600" dirty="0"/>
              <a:t>         32 références</a:t>
            </a:r>
          </a:p>
          <a:p>
            <a:r>
              <a:rPr lang="fr-FR" sz="1600" dirty="0"/>
              <a:t>         20 % du CA</a:t>
            </a:r>
          </a:p>
          <a:p>
            <a:r>
              <a:rPr lang="fr-FR" sz="1600" dirty="0"/>
              <a:t>         prix moyen élevé 91 €</a:t>
            </a:r>
          </a:p>
          <a:p>
            <a:r>
              <a:rPr lang="fr-FR" sz="1600" dirty="0"/>
              <a:t>         rotation très forte 5,56 mois</a:t>
            </a:r>
          </a:p>
        </p:txBody>
      </p:sp>
      <p:sp>
        <p:nvSpPr>
          <p:cNvPr id="9" name="ZoneTexte 8">
            <a:extLst>
              <a:ext uri="{FF2B5EF4-FFF2-40B4-BE49-F238E27FC236}">
                <a16:creationId xmlns:a16="http://schemas.microsoft.com/office/drawing/2014/main" id="{58E8AE56-F01F-C99E-1DD6-0DBCA98FCAFE}"/>
              </a:ext>
            </a:extLst>
          </p:cNvPr>
          <p:cNvSpPr txBox="1"/>
          <p:nvPr/>
        </p:nvSpPr>
        <p:spPr>
          <a:xfrm>
            <a:off x="3224213" y="1187766"/>
            <a:ext cx="2719388" cy="1415772"/>
          </a:xfrm>
          <a:prstGeom prst="rect">
            <a:avLst/>
          </a:prstGeom>
          <a:noFill/>
        </p:spPr>
        <p:txBody>
          <a:bodyPr wrap="square">
            <a:spAutoFit/>
          </a:bodyPr>
          <a:lstStyle/>
          <a:p>
            <a:r>
              <a:rPr lang="fr-FR" sz="1600" b="1" dirty="0"/>
              <a:t>🍷 Cœur du catalogue</a:t>
            </a:r>
          </a:p>
          <a:p>
            <a:endParaRPr lang="fr-FR" sz="600" dirty="0"/>
          </a:p>
          <a:p>
            <a:r>
              <a:rPr lang="fr-FR" sz="1600" dirty="0"/>
              <a:t>   388 références</a:t>
            </a:r>
          </a:p>
          <a:p>
            <a:r>
              <a:rPr lang="fr-FR" sz="1600" dirty="0"/>
              <a:t>   60 % du CA</a:t>
            </a:r>
          </a:p>
          <a:p>
            <a:r>
              <a:rPr lang="fr-FR" sz="1600" dirty="0"/>
              <a:t>   prix moyen 35 €</a:t>
            </a:r>
          </a:p>
          <a:p>
            <a:r>
              <a:rPr lang="fr-FR" sz="1600" dirty="0"/>
              <a:t>   rotation stable 2,90 mois</a:t>
            </a:r>
          </a:p>
        </p:txBody>
      </p:sp>
      <p:sp>
        <p:nvSpPr>
          <p:cNvPr id="11" name="ZoneTexte 10">
            <a:extLst>
              <a:ext uri="{FF2B5EF4-FFF2-40B4-BE49-F238E27FC236}">
                <a16:creationId xmlns:a16="http://schemas.microsoft.com/office/drawing/2014/main" id="{A9FF2F71-0479-E421-F65F-5A99957F16C0}"/>
              </a:ext>
            </a:extLst>
          </p:cNvPr>
          <p:cNvSpPr txBox="1"/>
          <p:nvPr/>
        </p:nvSpPr>
        <p:spPr>
          <a:xfrm>
            <a:off x="6157913" y="1201478"/>
            <a:ext cx="3062287" cy="1415772"/>
          </a:xfrm>
          <a:prstGeom prst="rect">
            <a:avLst/>
          </a:prstGeom>
          <a:noFill/>
        </p:spPr>
        <p:txBody>
          <a:bodyPr wrap="square">
            <a:spAutoFit/>
          </a:bodyPr>
          <a:lstStyle/>
          <a:p>
            <a:r>
              <a:rPr lang="fr-FR" sz="1600" b="1" dirty="0"/>
              <a:t>📦 Longue traîne</a:t>
            </a:r>
          </a:p>
          <a:p>
            <a:endParaRPr lang="fr-FR" sz="600" b="1" dirty="0"/>
          </a:p>
          <a:p>
            <a:r>
              <a:rPr lang="fr-FR" sz="1600" dirty="0"/>
              <a:t>    294 références</a:t>
            </a:r>
          </a:p>
          <a:p>
            <a:r>
              <a:rPr lang="fr-FR" sz="1600" dirty="0"/>
              <a:t>    20 % du CA</a:t>
            </a:r>
          </a:p>
          <a:p>
            <a:r>
              <a:rPr lang="fr-FR" sz="1600" dirty="0"/>
              <a:t>    prix moyen plus faible 22 €</a:t>
            </a:r>
          </a:p>
          <a:p>
            <a:r>
              <a:rPr lang="fr-FR" sz="1600" dirty="0"/>
              <a:t>    rotation plus lente 2,67 mois</a:t>
            </a:r>
          </a:p>
        </p:txBody>
      </p:sp>
      <p:pic>
        <p:nvPicPr>
          <p:cNvPr id="13" name="Image 12">
            <a:extLst>
              <a:ext uri="{FF2B5EF4-FFF2-40B4-BE49-F238E27FC236}">
                <a16:creationId xmlns:a16="http://schemas.microsoft.com/office/drawing/2014/main" id="{080E80DA-05CF-DC55-E107-D4BCB5BA8F22}"/>
              </a:ext>
            </a:extLst>
          </p:cNvPr>
          <p:cNvPicPr>
            <a:picLocks noChangeAspect="1"/>
          </p:cNvPicPr>
          <p:nvPr/>
        </p:nvPicPr>
        <p:blipFill>
          <a:blip r:embed="rId2"/>
          <a:stretch>
            <a:fillRect/>
          </a:stretch>
        </p:blipFill>
        <p:spPr>
          <a:xfrm>
            <a:off x="0" y="3915937"/>
            <a:ext cx="9144000" cy="1220861"/>
          </a:xfrm>
          <a:prstGeom prst="rect">
            <a:avLst/>
          </a:prstGeom>
        </p:spPr>
      </p:pic>
      <p:sp>
        <p:nvSpPr>
          <p:cNvPr id="17" name="ZoneTexte 16">
            <a:extLst>
              <a:ext uri="{FF2B5EF4-FFF2-40B4-BE49-F238E27FC236}">
                <a16:creationId xmlns:a16="http://schemas.microsoft.com/office/drawing/2014/main" id="{091B868F-47BE-8D64-5E8B-BA29DD7CC484}"/>
              </a:ext>
            </a:extLst>
          </p:cNvPr>
          <p:cNvSpPr txBox="1"/>
          <p:nvPr/>
        </p:nvSpPr>
        <p:spPr>
          <a:xfrm>
            <a:off x="66675" y="2677047"/>
            <a:ext cx="2781300" cy="523220"/>
          </a:xfrm>
          <a:prstGeom prst="rect">
            <a:avLst/>
          </a:prstGeom>
          <a:noFill/>
        </p:spPr>
        <p:txBody>
          <a:bodyPr wrap="square">
            <a:spAutoFit/>
          </a:bodyPr>
          <a:lstStyle/>
          <a:p>
            <a:r>
              <a:rPr lang="fr-FR" dirty="0"/>
              <a:t>👉 Ces produits génèrent </a:t>
            </a:r>
            <a:r>
              <a:rPr lang="fr-FR" b="1" dirty="0"/>
              <a:t>beaucoup de valeur par vente</a:t>
            </a:r>
            <a:r>
              <a:rPr lang="fr-FR" dirty="0"/>
              <a:t>.</a:t>
            </a:r>
          </a:p>
        </p:txBody>
      </p:sp>
      <p:sp>
        <p:nvSpPr>
          <p:cNvPr id="19" name="ZoneTexte 18">
            <a:extLst>
              <a:ext uri="{FF2B5EF4-FFF2-40B4-BE49-F238E27FC236}">
                <a16:creationId xmlns:a16="http://schemas.microsoft.com/office/drawing/2014/main" id="{CB839D5D-7728-16A8-6A47-16B9A391590B}"/>
              </a:ext>
            </a:extLst>
          </p:cNvPr>
          <p:cNvSpPr txBox="1"/>
          <p:nvPr/>
        </p:nvSpPr>
        <p:spPr>
          <a:xfrm>
            <a:off x="3130153" y="2667389"/>
            <a:ext cx="2883694" cy="523220"/>
          </a:xfrm>
          <a:prstGeom prst="rect">
            <a:avLst/>
          </a:prstGeom>
          <a:noFill/>
        </p:spPr>
        <p:txBody>
          <a:bodyPr wrap="square">
            <a:spAutoFit/>
          </a:bodyPr>
          <a:lstStyle/>
          <a:p>
            <a:r>
              <a:rPr lang="fr-FR" dirty="0"/>
              <a:t>👉 Ce sont </a:t>
            </a:r>
            <a:r>
              <a:rPr lang="fr-FR" b="1" dirty="0"/>
              <a:t>les produits qui font réellement tourner le business</a:t>
            </a:r>
            <a:r>
              <a:rPr lang="fr-FR" dirty="0"/>
              <a:t>.</a:t>
            </a:r>
          </a:p>
        </p:txBody>
      </p:sp>
      <p:sp>
        <p:nvSpPr>
          <p:cNvPr id="21" name="ZoneTexte 20">
            <a:extLst>
              <a:ext uri="{FF2B5EF4-FFF2-40B4-BE49-F238E27FC236}">
                <a16:creationId xmlns:a16="http://schemas.microsoft.com/office/drawing/2014/main" id="{D363730A-D4D9-A707-926C-210263BA947E}"/>
              </a:ext>
            </a:extLst>
          </p:cNvPr>
          <p:cNvSpPr txBox="1"/>
          <p:nvPr/>
        </p:nvSpPr>
        <p:spPr>
          <a:xfrm>
            <a:off x="6157913" y="2677047"/>
            <a:ext cx="3062287" cy="523220"/>
          </a:xfrm>
          <a:prstGeom prst="rect">
            <a:avLst/>
          </a:prstGeom>
          <a:noFill/>
        </p:spPr>
        <p:txBody>
          <a:bodyPr wrap="square">
            <a:spAutoFit/>
          </a:bodyPr>
          <a:lstStyle/>
          <a:p>
            <a:r>
              <a:rPr lang="fr-FR" dirty="0"/>
              <a:t>👉 Beaucoup de références contribuent </a:t>
            </a:r>
            <a:r>
              <a:rPr lang="fr-FR" b="1" dirty="0"/>
              <a:t>faiblement aux ventes</a:t>
            </a:r>
            <a:r>
              <a:rPr lang="fr-FR" dirty="0"/>
              <a:t>.</a:t>
            </a:r>
          </a:p>
        </p:txBody>
      </p:sp>
    </p:spTree>
    <p:extLst>
      <p:ext uri="{BB962C8B-B14F-4D97-AF65-F5344CB8AC3E}">
        <p14:creationId xmlns:p14="http://schemas.microsoft.com/office/powerpoint/2010/main" val="2180490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13f9e8f1567_0_0"/>
          <p:cNvSpPr/>
          <p:nvPr/>
        </p:nvSpPr>
        <p:spPr>
          <a:xfrm>
            <a:off x="0" y="0"/>
            <a:ext cx="9144000" cy="805980"/>
          </a:xfrm>
          <a:prstGeom prst="rect">
            <a:avLst/>
          </a:prstGeom>
          <a:solidFill>
            <a:srgbClr val="4D080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4D0801"/>
              </a:solidFill>
              <a:latin typeface="Arial"/>
              <a:ea typeface="Arial"/>
              <a:cs typeface="Arial"/>
              <a:sym typeface="Arial"/>
            </a:endParaRPr>
          </a:p>
        </p:txBody>
      </p:sp>
      <p:sp>
        <p:nvSpPr>
          <p:cNvPr id="96" name="Google Shape;96;g13f9e8f1567_0_0"/>
          <p:cNvSpPr txBox="1"/>
          <p:nvPr/>
        </p:nvSpPr>
        <p:spPr>
          <a:xfrm>
            <a:off x="359584" y="93396"/>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dirty="0">
                <a:solidFill>
                  <a:srgbClr val="F3F3F3"/>
                </a:solidFill>
                <a:latin typeface="Montserrat"/>
                <a:ea typeface="Montserrat"/>
                <a:cs typeface="Montserrat"/>
                <a:sym typeface="Montserrat"/>
              </a:rPr>
              <a:t>Conclusion des analyses</a:t>
            </a:r>
            <a:endParaRPr dirty="0"/>
          </a:p>
        </p:txBody>
      </p:sp>
      <p:sp>
        <p:nvSpPr>
          <p:cNvPr id="97" name="Google Shape;97;g13f9e8f1567_0_0"/>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Espace réservé du texte 1">
            <a:extLst>
              <a:ext uri="{FF2B5EF4-FFF2-40B4-BE49-F238E27FC236}">
                <a16:creationId xmlns:a16="http://schemas.microsoft.com/office/drawing/2014/main" id="{E3BF7349-AEBE-EC76-A244-9F9F2B7166D3}"/>
              </a:ext>
            </a:extLst>
          </p:cNvPr>
          <p:cNvSpPr>
            <a:spLocks noGrp="1" noChangeArrowheads="1"/>
          </p:cNvSpPr>
          <p:nvPr>
            <p:ph type="body" idx="1"/>
          </p:nvPr>
        </p:nvSpPr>
        <p:spPr bwMode="auto">
          <a:xfrm>
            <a:off x="271232" y="1031261"/>
            <a:ext cx="881942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00000"/>
              </a:lnSpc>
              <a:spcBef>
                <a:spcPct val="0"/>
              </a:spcBef>
              <a:spcAft>
                <a:spcPct val="0"/>
              </a:spcAft>
              <a:buClrTx/>
              <a:buSzTx/>
              <a:buFont typeface="Wingdings" panose="05000000000000000000" pitchFamily="2" charset="2"/>
              <a:buChar char="Ø"/>
            </a:pPr>
            <a:r>
              <a:rPr lang="fr-FR" dirty="0">
                <a:solidFill>
                  <a:schemeClr val="tx1"/>
                </a:solidFill>
              </a:rPr>
              <a:t>CA  =  logique de type Pareto (20/80) : une part limitée du catalogue génère l’essentiel du CA.</a:t>
            </a: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endParaRPr lang="fr-FR" dirty="0">
              <a:solidFill>
                <a:schemeClr val="tx1"/>
              </a:solidFill>
            </a:endParaRP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r>
              <a:rPr lang="fr-FR" dirty="0">
                <a:solidFill>
                  <a:schemeClr val="tx1"/>
                </a:solidFill>
              </a:rPr>
              <a:t>Volumes de ventes élevés sur des vins plus accessibles</a:t>
            </a: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endParaRPr lang="fr-FR" dirty="0">
              <a:solidFill>
                <a:schemeClr val="tx1"/>
              </a:solidFill>
            </a:endParaRP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r>
              <a:rPr lang="fr-FR" dirty="0">
                <a:solidFill>
                  <a:schemeClr val="tx1"/>
                </a:solidFill>
              </a:rPr>
              <a:t>Certaines références présentent une rotation lente des stocks : potentiel d’optimisation.</a:t>
            </a: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endParaRPr lang="fr-FR" dirty="0">
              <a:solidFill>
                <a:schemeClr val="tx1"/>
              </a:solidFill>
            </a:endParaRP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r>
              <a:rPr lang="fr-FR" dirty="0">
                <a:solidFill>
                  <a:schemeClr val="tx1"/>
                </a:solidFill>
              </a:rPr>
              <a:t>Niveaux de marge variables selon les catégories : opportunités d’ajustement de la stratégie commerciale.</a:t>
            </a:r>
          </a:p>
          <a:p>
            <a:pPr marL="0" lvl="0" indent="0" eaLnBrk="0" fontAlgn="base" hangingPunct="0">
              <a:lnSpc>
                <a:spcPct val="100000"/>
              </a:lnSpc>
              <a:spcBef>
                <a:spcPct val="0"/>
              </a:spcBef>
              <a:spcAft>
                <a:spcPct val="0"/>
              </a:spcAft>
              <a:buClrTx/>
              <a:buSzTx/>
              <a:buNone/>
            </a:pPr>
            <a:endParaRPr lang="fr-FR" dirty="0">
              <a:solidFill>
                <a:schemeClr val="tx1"/>
              </a:solidFill>
            </a:endParaRPr>
          </a:p>
          <a:p>
            <a:pPr marL="0" lvl="0" indent="0" eaLnBrk="0" fontAlgn="base" hangingPunct="0">
              <a:lnSpc>
                <a:spcPct val="100000"/>
              </a:lnSpc>
              <a:spcBef>
                <a:spcPct val="0"/>
              </a:spcBef>
              <a:spcAft>
                <a:spcPct val="0"/>
              </a:spcAft>
              <a:buClrTx/>
              <a:buSzTx/>
              <a:buNone/>
            </a:pPr>
            <a:r>
              <a:rPr lang="fr-FR" dirty="0">
                <a:solidFill>
                  <a:schemeClr val="bg1"/>
                </a:solidFill>
                <a:highlight>
                  <a:srgbClr val="4D0801"/>
                </a:highlight>
              </a:rPr>
              <a:t>Pistes d’amélioration : suivi des produits stratégiques, optimisation des stocks et mise en place d’indicateurs de performance.</a:t>
            </a:r>
            <a:endParaRPr lang="fr-FR" altLang="fr-FR" b="1" dirty="0">
              <a:solidFill>
                <a:schemeClr val="bg1"/>
              </a:solidFill>
              <a:highlight>
                <a:srgbClr val="4D0801"/>
              </a:highlight>
              <a:latin typeface="Arial" panose="020B0604020202020204" pitchFamily="34" charset="0"/>
            </a:endParaRPr>
          </a:p>
        </p:txBody>
      </p:sp>
      <p:pic>
        <p:nvPicPr>
          <p:cNvPr id="3" name="Image 2">
            <a:extLst>
              <a:ext uri="{FF2B5EF4-FFF2-40B4-BE49-F238E27FC236}">
                <a16:creationId xmlns:a16="http://schemas.microsoft.com/office/drawing/2014/main" id="{A2B5DB8B-1C02-2F62-B591-87938CA08FB3}"/>
              </a:ext>
            </a:extLst>
          </p:cNvPr>
          <p:cNvPicPr>
            <a:picLocks noChangeAspect="1"/>
          </p:cNvPicPr>
          <p:nvPr/>
        </p:nvPicPr>
        <p:blipFill>
          <a:blip r:embed="rId3"/>
          <a:stretch>
            <a:fillRect/>
          </a:stretch>
        </p:blipFill>
        <p:spPr>
          <a:xfrm>
            <a:off x="8223424" y="4509461"/>
            <a:ext cx="920576" cy="63403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C588455B-1360-B57B-07F2-3A654C0FF5EB}"/>
            </a:ext>
          </a:extLst>
        </p:cNvPr>
        <p:cNvGrpSpPr/>
        <p:nvPr/>
      </p:nvGrpSpPr>
      <p:grpSpPr>
        <a:xfrm>
          <a:off x="0" y="0"/>
          <a:ext cx="0" cy="0"/>
          <a:chOff x="0" y="0"/>
          <a:chExt cx="0" cy="0"/>
        </a:xfrm>
      </p:grpSpPr>
      <p:sp>
        <p:nvSpPr>
          <p:cNvPr id="71" name="Google Shape;71;p5">
            <a:extLst>
              <a:ext uri="{FF2B5EF4-FFF2-40B4-BE49-F238E27FC236}">
                <a16:creationId xmlns:a16="http://schemas.microsoft.com/office/drawing/2014/main" id="{3143E5DB-89F2-C37D-C0C4-EC8E5C7412B0}"/>
              </a:ext>
            </a:extLst>
          </p:cNvPr>
          <p:cNvSpPr txBox="1">
            <a:spLocks noGrp="1"/>
          </p:cNvSpPr>
          <p:nvPr>
            <p:ph type="body" idx="1"/>
          </p:nvPr>
        </p:nvSpPr>
        <p:spPr>
          <a:xfrm>
            <a:off x="0" y="1440600"/>
            <a:ext cx="9144000" cy="3702900"/>
          </a:xfrm>
          <a:prstGeom prst="rect">
            <a:avLst/>
          </a:prstGeom>
          <a:noFill/>
          <a:ln>
            <a:noFill/>
          </a:ln>
        </p:spPr>
        <p:txBody>
          <a:bodyPr spcFirstLastPara="1" wrap="square" lIns="91425" tIns="91425" rIns="91425" bIns="91425" anchor="t" anchorCtr="0">
            <a:normAutofit fontScale="85000" lnSpcReduction="20000"/>
          </a:bodyPr>
          <a:lstStyle/>
          <a:p>
            <a:pPr>
              <a:buNone/>
            </a:pPr>
            <a:r>
              <a:rPr lang="fr-FR" b="1" u="sng" dirty="0">
                <a:solidFill>
                  <a:srgbClr val="4D0801"/>
                </a:solidFill>
              </a:rPr>
              <a:t>Le </a:t>
            </a:r>
            <a:r>
              <a:rPr lang="fr-FR" b="1" u="sng" dirty="0" err="1">
                <a:solidFill>
                  <a:srgbClr val="4D0801"/>
                </a:solidFill>
              </a:rPr>
              <a:t>dataset</a:t>
            </a:r>
            <a:r>
              <a:rPr lang="fr-FR" b="1" u="sng" dirty="0">
                <a:solidFill>
                  <a:srgbClr val="4D0801"/>
                </a:solidFill>
              </a:rPr>
              <a:t> final est obtenu après les étapes suivantes :</a:t>
            </a:r>
          </a:p>
          <a:p>
            <a:pPr>
              <a:buNone/>
            </a:pPr>
            <a:endParaRPr lang="fr-FR" sz="600" b="1" u="sng" dirty="0">
              <a:solidFill>
                <a:srgbClr val="4D0801"/>
              </a:solidFill>
            </a:endParaRPr>
          </a:p>
          <a:p>
            <a:pPr>
              <a:buFontTx/>
              <a:buChar char="-"/>
            </a:pPr>
            <a:r>
              <a:rPr lang="fr-FR" dirty="0">
                <a:solidFill>
                  <a:schemeClr val="tx1"/>
                </a:solidFill>
              </a:rPr>
              <a:t>nettoyage des données</a:t>
            </a:r>
          </a:p>
          <a:p>
            <a:pPr>
              <a:buFontTx/>
              <a:buChar char="-"/>
            </a:pPr>
            <a:r>
              <a:rPr lang="fr-FR" dirty="0">
                <a:solidFill>
                  <a:schemeClr val="tx1"/>
                </a:solidFill>
              </a:rPr>
              <a:t>correction des anomalies</a:t>
            </a:r>
          </a:p>
          <a:p>
            <a:pPr>
              <a:buFontTx/>
              <a:buChar char="-"/>
            </a:pPr>
            <a:r>
              <a:rPr lang="fr-FR" dirty="0">
                <a:solidFill>
                  <a:schemeClr val="tx1"/>
                </a:solidFill>
              </a:rPr>
              <a:t>fusion des données ERP, Web et de la table de liaison</a:t>
            </a:r>
          </a:p>
          <a:p>
            <a:pPr>
              <a:buFontTx/>
              <a:buChar char="-"/>
            </a:pPr>
            <a:r>
              <a:rPr lang="fr-FR" dirty="0">
                <a:solidFill>
                  <a:schemeClr val="tx1"/>
                </a:solidFill>
              </a:rPr>
              <a:t>création de nouvelles variables analytiques</a:t>
            </a:r>
          </a:p>
          <a:p>
            <a:pPr>
              <a:buFont typeface="Arial" panose="020B0604020202020204" pitchFamily="34" charset="0"/>
              <a:buChar char="•"/>
            </a:pPr>
            <a:endParaRPr lang="fr-FR" dirty="0">
              <a:solidFill>
                <a:schemeClr val="tx1"/>
              </a:solidFill>
            </a:endParaRPr>
          </a:p>
          <a:p>
            <a:pPr>
              <a:buNone/>
            </a:pPr>
            <a:r>
              <a:rPr lang="fr-FR" b="1" u="sng" dirty="0">
                <a:solidFill>
                  <a:srgbClr val="4D0801"/>
                </a:solidFill>
              </a:rPr>
              <a:t>Variables créées pour l’analyse :</a:t>
            </a:r>
          </a:p>
          <a:p>
            <a:pPr>
              <a:buNone/>
            </a:pPr>
            <a:endParaRPr lang="fr-FR" sz="600" b="1" u="sng" dirty="0">
              <a:solidFill>
                <a:srgbClr val="4D0801"/>
              </a:solidFill>
            </a:endParaRPr>
          </a:p>
          <a:p>
            <a:pPr>
              <a:buFontTx/>
              <a:buChar char="-"/>
            </a:pPr>
            <a:r>
              <a:rPr lang="fr-FR" dirty="0">
                <a:solidFill>
                  <a:schemeClr val="tx1"/>
                </a:solidFill>
              </a:rPr>
              <a:t>CA par produit</a:t>
            </a:r>
          </a:p>
          <a:p>
            <a:pPr>
              <a:buFontTx/>
              <a:buChar char="-"/>
            </a:pPr>
            <a:r>
              <a:rPr lang="fr-FR" dirty="0">
                <a:solidFill>
                  <a:schemeClr val="tx1"/>
                </a:solidFill>
              </a:rPr>
              <a:t>part du CA</a:t>
            </a:r>
          </a:p>
          <a:p>
            <a:pPr>
              <a:buFontTx/>
              <a:buChar char="-"/>
            </a:pPr>
            <a:r>
              <a:rPr lang="fr-FR" dirty="0">
                <a:solidFill>
                  <a:schemeClr val="tx1"/>
                </a:solidFill>
              </a:rPr>
              <a:t>cumul du CA</a:t>
            </a:r>
          </a:p>
          <a:p>
            <a:pPr>
              <a:buFontTx/>
              <a:buChar char="-"/>
            </a:pPr>
            <a:r>
              <a:rPr lang="fr-FR" dirty="0">
                <a:solidFill>
                  <a:schemeClr val="tx1"/>
                </a:solidFill>
              </a:rPr>
              <a:t>indicateurs pour l’analyse Pareto (20/80)</a:t>
            </a:r>
          </a:p>
          <a:p>
            <a:pPr>
              <a:buFont typeface="Arial" panose="020B0604020202020204" pitchFamily="34" charset="0"/>
              <a:buChar char="•"/>
            </a:pPr>
            <a:endParaRPr lang="fr-FR" dirty="0">
              <a:solidFill>
                <a:schemeClr val="tx1"/>
              </a:solidFill>
            </a:endParaRPr>
          </a:p>
          <a:p>
            <a:pPr>
              <a:buNone/>
            </a:pPr>
            <a:r>
              <a:rPr lang="fr-FR" dirty="0">
                <a:solidFill>
                  <a:schemeClr val="tx1"/>
                </a:solidFill>
              </a:rPr>
              <a:t> </a:t>
            </a:r>
          </a:p>
          <a:p>
            <a:pPr>
              <a:buNone/>
            </a:pPr>
            <a:r>
              <a:rPr lang="fr-FR" b="1" dirty="0">
                <a:solidFill>
                  <a:srgbClr val="4D0801"/>
                </a:solidFill>
              </a:rPr>
              <a:t>Ce </a:t>
            </a:r>
            <a:r>
              <a:rPr lang="fr-FR" b="1" dirty="0" err="1">
                <a:solidFill>
                  <a:srgbClr val="4D0801"/>
                </a:solidFill>
              </a:rPr>
              <a:t>dataset</a:t>
            </a:r>
            <a:r>
              <a:rPr lang="fr-FR" b="1" dirty="0">
                <a:solidFill>
                  <a:srgbClr val="4D0801"/>
                </a:solidFill>
              </a:rPr>
              <a:t> consolidé constitue la base unique utilisée pour l’ensemble des analyses présentées.</a:t>
            </a:r>
            <a:endParaRPr lang="fr-FR" dirty="0">
              <a:solidFill>
                <a:schemeClr val="tx1"/>
              </a:solidFill>
            </a:endParaRPr>
          </a:p>
          <a:p>
            <a:pPr>
              <a:buNone/>
            </a:pPr>
            <a:r>
              <a:rPr lang="fr-FR" dirty="0">
                <a:solidFill>
                  <a:schemeClr val="tx1"/>
                </a:solidFill>
              </a:rPr>
              <a:t>                    </a:t>
            </a:r>
            <a:endParaRPr dirty="0">
              <a:solidFill>
                <a:srgbClr val="434343"/>
              </a:solidFill>
              <a:latin typeface="Montserrat"/>
              <a:ea typeface="Montserrat"/>
              <a:cs typeface="Montserrat"/>
              <a:sym typeface="Montserrat"/>
            </a:endParaRPr>
          </a:p>
        </p:txBody>
      </p:sp>
      <p:sp>
        <p:nvSpPr>
          <p:cNvPr id="72" name="Google Shape;72;p5">
            <a:extLst>
              <a:ext uri="{FF2B5EF4-FFF2-40B4-BE49-F238E27FC236}">
                <a16:creationId xmlns:a16="http://schemas.microsoft.com/office/drawing/2014/main" id="{2EB43671-272B-90D2-EE2C-6587D85A1C29}"/>
              </a:ext>
            </a:extLst>
          </p:cNvPr>
          <p:cNvSpPr/>
          <p:nvPr/>
        </p:nvSpPr>
        <p:spPr>
          <a:xfrm>
            <a:off x="0" y="0"/>
            <a:ext cx="9144000" cy="1390200"/>
          </a:xfrm>
          <a:prstGeom prst="rect">
            <a:avLst/>
          </a:prstGeom>
          <a:solidFill>
            <a:srgbClr val="4D080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3" name="Google Shape;73;p5">
            <a:extLst>
              <a:ext uri="{FF2B5EF4-FFF2-40B4-BE49-F238E27FC236}">
                <a16:creationId xmlns:a16="http://schemas.microsoft.com/office/drawing/2014/main" id="{1825F166-A42C-D806-83BD-225BB9B62D6A}"/>
              </a:ext>
            </a:extLst>
          </p:cNvPr>
          <p:cNvSpPr txBox="1"/>
          <p:nvPr/>
        </p:nvSpPr>
        <p:spPr>
          <a:xfrm>
            <a:off x="906016" y="291803"/>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dirty="0">
                <a:solidFill>
                  <a:srgbClr val="F3F3F3"/>
                </a:solidFill>
                <a:latin typeface="Montserrat"/>
                <a:ea typeface="Montserrat"/>
                <a:cs typeface="Montserrat"/>
                <a:sym typeface="Montserrat"/>
              </a:rPr>
              <a:t>Création du </a:t>
            </a:r>
            <a:r>
              <a:rPr lang="fr-FR" sz="2500" b="0" i="0" u="none" strike="noStrike" cap="none" dirty="0" err="1">
                <a:solidFill>
                  <a:srgbClr val="F3F3F3"/>
                </a:solidFill>
                <a:latin typeface="Montserrat"/>
                <a:ea typeface="Montserrat"/>
                <a:cs typeface="Montserrat"/>
                <a:sym typeface="Montserrat"/>
              </a:rPr>
              <a:t>Bottleneck</a:t>
            </a:r>
            <a:r>
              <a:rPr lang="fr-FR" sz="2500" b="0" i="0" u="none" strike="noStrike" cap="none" dirty="0">
                <a:solidFill>
                  <a:srgbClr val="F3F3F3"/>
                </a:solidFill>
                <a:latin typeface="Montserrat"/>
                <a:ea typeface="Montserrat"/>
                <a:cs typeface="Montserrat"/>
                <a:sym typeface="Montserrat"/>
              </a:rPr>
              <a:t> </a:t>
            </a:r>
            <a:r>
              <a:rPr lang="fr-FR" sz="2500" b="0" i="0" u="none" strike="noStrike" cap="none" dirty="0" err="1">
                <a:solidFill>
                  <a:srgbClr val="F3F3F3"/>
                </a:solidFill>
                <a:latin typeface="Montserrat"/>
                <a:ea typeface="Montserrat"/>
                <a:cs typeface="Montserrat"/>
                <a:sym typeface="Montserrat"/>
              </a:rPr>
              <a:t>Dataset</a:t>
            </a:r>
            <a:r>
              <a:rPr lang="fr-FR" sz="2500" b="0" i="0" u="none" strike="noStrike" cap="none" dirty="0">
                <a:solidFill>
                  <a:srgbClr val="F3F3F3"/>
                </a:solidFill>
                <a:latin typeface="Montserrat"/>
                <a:ea typeface="Montserrat"/>
                <a:cs typeface="Montserrat"/>
                <a:sym typeface="Montserrat"/>
              </a:rPr>
              <a:t> Final</a:t>
            </a:r>
          </a:p>
        </p:txBody>
      </p:sp>
      <p:sp>
        <p:nvSpPr>
          <p:cNvPr id="74" name="Google Shape;74;p5">
            <a:extLst>
              <a:ext uri="{FF2B5EF4-FFF2-40B4-BE49-F238E27FC236}">
                <a16:creationId xmlns:a16="http://schemas.microsoft.com/office/drawing/2014/main" id="{2F4E843C-7156-492E-39C6-E6E432B53146}"/>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 name="Image 5">
            <a:hlinkClick r:id="rId3"/>
            <a:extLst>
              <a:ext uri="{FF2B5EF4-FFF2-40B4-BE49-F238E27FC236}">
                <a16:creationId xmlns:a16="http://schemas.microsoft.com/office/drawing/2014/main" id="{33DC6ECF-8AF9-428E-94E1-96755F3BA86B}"/>
              </a:ext>
            </a:extLst>
          </p:cNvPr>
          <p:cNvPicPr>
            <a:picLocks noChangeAspect="1"/>
          </p:cNvPicPr>
          <p:nvPr/>
        </p:nvPicPr>
        <p:blipFill>
          <a:blip r:embed="rId4"/>
          <a:stretch>
            <a:fillRect/>
          </a:stretch>
        </p:blipFill>
        <p:spPr>
          <a:xfrm rot="19804162">
            <a:off x="7292151" y="2782536"/>
            <a:ext cx="1167953" cy="1208505"/>
          </a:xfrm>
          <a:prstGeom prst="rect">
            <a:avLst/>
          </a:prstGeom>
        </p:spPr>
      </p:pic>
      <p:pic>
        <p:nvPicPr>
          <p:cNvPr id="5" name="Image 4">
            <a:hlinkClick r:id="rId3"/>
            <a:extLst>
              <a:ext uri="{FF2B5EF4-FFF2-40B4-BE49-F238E27FC236}">
                <a16:creationId xmlns:a16="http://schemas.microsoft.com/office/drawing/2014/main" id="{BB81380A-DBBC-6721-15F8-982D9C876778}"/>
              </a:ext>
            </a:extLst>
          </p:cNvPr>
          <p:cNvPicPr>
            <a:picLocks noChangeAspect="1"/>
          </p:cNvPicPr>
          <p:nvPr/>
        </p:nvPicPr>
        <p:blipFill>
          <a:blip r:embed="rId5"/>
          <a:stretch>
            <a:fillRect/>
          </a:stretch>
        </p:blipFill>
        <p:spPr>
          <a:xfrm>
            <a:off x="5227276" y="2877677"/>
            <a:ext cx="2206205" cy="3639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Image 3">
            <a:extLst>
              <a:ext uri="{FF2B5EF4-FFF2-40B4-BE49-F238E27FC236}">
                <a16:creationId xmlns:a16="http://schemas.microsoft.com/office/drawing/2014/main" id="{7E1BBE3E-A9FC-7D3E-5F7F-EC85CA42BEA2}"/>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8223424" y="4509461"/>
            <a:ext cx="920576" cy="634039"/>
          </a:xfrm>
          <a:prstGeom prst="rect">
            <a:avLst/>
          </a:prstGeom>
        </p:spPr>
      </p:pic>
    </p:spTree>
    <p:extLst>
      <p:ext uri="{BB962C8B-B14F-4D97-AF65-F5344CB8AC3E}">
        <p14:creationId xmlns:p14="http://schemas.microsoft.com/office/powerpoint/2010/main" val="1266595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B52B8F89-6F87-645F-1D55-859F5FAA0E73}"/>
            </a:ext>
          </a:extLst>
        </p:cNvPr>
        <p:cNvGrpSpPr/>
        <p:nvPr/>
      </p:nvGrpSpPr>
      <p:grpSpPr>
        <a:xfrm>
          <a:off x="0" y="0"/>
          <a:ext cx="0" cy="0"/>
          <a:chOff x="0" y="0"/>
          <a:chExt cx="0" cy="0"/>
        </a:xfrm>
      </p:grpSpPr>
      <p:sp>
        <p:nvSpPr>
          <p:cNvPr id="95" name="Google Shape;95;g13f9e8f1567_0_0">
            <a:extLst>
              <a:ext uri="{FF2B5EF4-FFF2-40B4-BE49-F238E27FC236}">
                <a16:creationId xmlns:a16="http://schemas.microsoft.com/office/drawing/2014/main" id="{B6091AE2-8065-7718-56A2-4A46FB7321D2}"/>
              </a:ext>
            </a:extLst>
          </p:cNvPr>
          <p:cNvSpPr/>
          <p:nvPr/>
        </p:nvSpPr>
        <p:spPr>
          <a:xfrm>
            <a:off x="0" y="0"/>
            <a:ext cx="9144000" cy="684060"/>
          </a:xfrm>
          <a:prstGeom prst="rect">
            <a:avLst/>
          </a:prstGeom>
          <a:solidFill>
            <a:srgbClr val="4D080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D0801"/>
              </a:solidFill>
              <a:latin typeface="Arial"/>
              <a:ea typeface="Arial"/>
              <a:cs typeface="Arial"/>
              <a:sym typeface="Arial"/>
            </a:endParaRPr>
          </a:p>
        </p:txBody>
      </p:sp>
      <p:sp>
        <p:nvSpPr>
          <p:cNvPr id="96" name="Google Shape;96;g13f9e8f1567_0_0">
            <a:extLst>
              <a:ext uri="{FF2B5EF4-FFF2-40B4-BE49-F238E27FC236}">
                <a16:creationId xmlns:a16="http://schemas.microsoft.com/office/drawing/2014/main" id="{49CCB656-BDCF-3821-4DE5-51A3338025E3}"/>
              </a:ext>
            </a:extLst>
          </p:cNvPr>
          <p:cNvSpPr txBox="1"/>
          <p:nvPr/>
        </p:nvSpPr>
        <p:spPr>
          <a:xfrm>
            <a:off x="2632885" y="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ea typeface="Montserrat"/>
                <a:cs typeface="Montserrat"/>
                <a:sym typeface="Montserrat"/>
              </a:rPr>
              <a:t>Actions pour la suite</a:t>
            </a:r>
            <a:endParaRPr dirty="0"/>
          </a:p>
        </p:txBody>
      </p:sp>
      <p:sp>
        <p:nvSpPr>
          <p:cNvPr id="3" name="Espace réservé du texte 2">
            <a:extLst>
              <a:ext uri="{FF2B5EF4-FFF2-40B4-BE49-F238E27FC236}">
                <a16:creationId xmlns:a16="http://schemas.microsoft.com/office/drawing/2014/main" id="{D97E4427-7781-2089-4EC1-C9E13E2C0059}"/>
              </a:ext>
            </a:extLst>
          </p:cNvPr>
          <p:cNvSpPr>
            <a:spLocks noGrp="1"/>
          </p:cNvSpPr>
          <p:nvPr>
            <p:ph type="body" idx="1"/>
          </p:nvPr>
        </p:nvSpPr>
        <p:spPr>
          <a:xfrm>
            <a:off x="885825" y="733750"/>
            <a:ext cx="7839794" cy="4409750"/>
          </a:xfrm>
        </p:spPr>
        <p:txBody>
          <a:bodyPr>
            <a:normAutofit fontScale="77500" lnSpcReduction="20000"/>
          </a:bodyPr>
          <a:lstStyle/>
          <a:p>
            <a:pPr algn="ctr">
              <a:buNone/>
            </a:pPr>
            <a:r>
              <a:rPr lang="fr-FR" b="1" dirty="0">
                <a:solidFill>
                  <a:schemeClr val="tx1"/>
                </a:solidFill>
                <a:latin typeface="Montserrat" panose="00000500000000000000" pitchFamily="2" charset="0"/>
              </a:rPr>
              <a:t>📈 Amélioration du pilotage business</a:t>
            </a:r>
          </a:p>
          <a:p>
            <a:pPr algn="ctr">
              <a:buNone/>
            </a:pPr>
            <a:endParaRPr lang="fr-FR" b="1" dirty="0">
              <a:solidFill>
                <a:schemeClr val="tx1"/>
              </a:solidFill>
              <a:latin typeface="Montserrat" panose="00000500000000000000" pitchFamily="2" charset="0"/>
            </a:endParaRPr>
          </a:p>
          <a:p>
            <a:pPr>
              <a:buNone/>
            </a:pPr>
            <a:r>
              <a:rPr lang="fr-FR" b="1" dirty="0">
                <a:solidFill>
                  <a:schemeClr val="tx1"/>
                </a:solidFill>
                <a:latin typeface="Montserrat" panose="00000500000000000000" pitchFamily="2" charset="0"/>
              </a:rPr>
              <a:t>Valoriser les produits premium</a:t>
            </a:r>
          </a:p>
          <a:p>
            <a:pPr>
              <a:buNone/>
            </a:pPr>
            <a:endParaRPr lang="fr-FR" sz="600" dirty="0">
              <a:solidFill>
                <a:schemeClr val="tx1"/>
              </a:solidFill>
              <a:latin typeface="Montserrat" panose="00000500000000000000" pitchFamily="2" charset="0"/>
            </a:endParaRPr>
          </a:p>
          <a:p>
            <a:pPr>
              <a:buNone/>
            </a:pPr>
            <a:r>
              <a:rPr lang="fr-FR" sz="1400" dirty="0">
                <a:solidFill>
                  <a:schemeClr val="tx1"/>
                </a:solidFill>
                <a:latin typeface="Montserrat" panose="00000500000000000000" pitchFamily="2" charset="0"/>
              </a:rPr>
              <a:t>Les vins à prix élevé génèrent une forte valeur par vente.</a:t>
            </a:r>
          </a:p>
          <a:p>
            <a:pPr>
              <a:buNone/>
            </a:pPr>
            <a:endParaRPr lang="fr-FR" sz="400" dirty="0">
              <a:solidFill>
                <a:schemeClr val="tx1"/>
              </a:solidFill>
              <a:latin typeface="Montserrat" panose="00000500000000000000" pitchFamily="2" charset="0"/>
            </a:endParaRPr>
          </a:p>
          <a:p>
            <a:pPr>
              <a:buNone/>
            </a:pPr>
            <a:endParaRPr lang="fr-FR" sz="400" dirty="0">
              <a:solidFill>
                <a:schemeClr val="tx1"/>
              </a:solidFill>
              <a:latin typeface="Montserrat" panose="00000500000000000000" pitchFamily="2" charset="0"/>
            </a:endParaRPr>
          </a:p>
          <a:p>
            <a:pPr>
              <a:buFont typeface="Wingdings" panose="05000000000000000000" pitchFamily="2" charset="2"/>
              <a:buChar char="ð"/>
            </a:pPr>
            <a:r>
              <a:rPr lang="fr-FR" dirty="0">
                <a:solidFill>
                  <a:schemeClr val="tx1"/>
                </a:solidFill>
                <a:latin typeface="Montserrat" panose="00000500000000000000" pitchFamily="2" charset="0"/>
              </a:rPr>
              <a:t>renforcer leur visibilité sur le site</a:t>
            </a:r>
          </a:p>
          <a:p>
            <a:pPr>
              <a:buFont typeface="Wingdings" panose="05000000000000000000" pitchFamily="2" charset="2"/>
              <a:buChar char="ð"/>
            </a:pPr>
            <a:r>
              <a:rPr lang="fr-FR" dirty="0">
                <a:solidFill>
                  <a:schemeClr val="tx1"/>
                </a:solidFill>
                <a:latin typeface="Montserrat" panose="00000500000000000000" pitchFamily="2" charset="0"/>
              </a:rPr>
              <a:t>les mettre en avant dans les recommandations ou promotions</a:t>
            </a:r>
          </a:p>
          <a:p>
            <a:pPr>
              <a:buNone/>
            </a:pPr>
            <a:br>
              <a:rPr lang="fr-FR" dirty="0">
                <a:solidFill>
                  <a:schemeClr val="tx1"/>
                </a:solidFill>
                <a:latin typeface="Montserrat" panose="00000500000000000000" pitchFamily="2" charset="0"/>
              </a:rPr>
            </a:br>
            <a:endParaRPr lang="fr-FR" dirty="0">
              <a:solidFill>
                <a:schemeClr val="tx1"/>
              </a:solidFill>
              <a:latin typeface="Montserrat" panose="00000500000000000000" pitchFamily="2" charset="0"/>
            </a:endParaRPr>
          </a:p>
          <a:p>
            <a:pPr>
              <a:buNone/>
            </a:pPr>
            <a:r>
              <a:rPr lang="fr-FR" b="1" dirty="0">
                <a:solidFill>
                  <a:schemeClr val="tx1"/>
                </a:solidFill>
                <a:latin typeface="Montserrat" panose="00000500000000000000" pitchFamily="2" charset="0"/>
              </a:rPr>
              <a:t>Sécuriser le cœur du catalogue</a:t>
            </a:r>
          </a:p>
          <a:p>
            <a:pPr>
              <a:buNone/>
            </a:pPr>
            <a:endParaRPr lang="fr-FR" sz="400" dirty="0">
              <a:solidFill>
                <a:schemeClr val="tx1"/>
              </a:solidFill>
              <a:latin typeface="Montserrat" panose="00000500000000000000" pitchFamily="2" charset="0"/>
            </a:endParaRPr>
          </a:p>
          <a:p>
            <a:pPr>
              <a:buNone/>
            </a:pPr>
            <a:r>
              <a:rPr lang="fr-FR" sz="1400" dirty="0">
                <a:solidFill>
                  <a:schemeClr val="tx1"/>
                </a:solidFill>
                <a:latin typeface="Montserrat" panose="00000500000000000000" pitchFamily="2" charset="0"/>
              </a:rPr>
              <a:t>Les vins autour de 35 € génèrent la majorité du chiffre d’affaires.</a:t>
            </a:r>
          </a:p>
          <a:p>
            <a:pPr>
              <a:buNone/>
            </a:pPr>
            <a:endParaRPr lang="fr-FR" sz="400" dirty="0">
              <a:solidFill>
                <a:schemeClr val="tx1"/>
              </a:solidFill>
              <a:latin typeface="Montserrat" panose="00000500000000000000" pitchFamily="2" charset="0"/>
            </a:endParaRPr>
          </a:p>
          <a:p>
            <a:pPr>
              <a:buNone/>
            </a:pPr>
            <a:endParaRPr lang="fr-FR" sz="400" dirty="0">
              <a:solidFill>
                <a:schemeClr val="tx1"/>
              </a:solidFill>
              <a:latin typeface="Montserrat" panose="00000500000000000000" pitchFamily="2" charset="0"/>
            </a:endParaRPr>
          </a:p>
          <a:p>
            <a:pPr>
              <a:buFont typeface="Wingdings" panose="05000000000000000000" pitchFamily="2" charset="2"/>
              <a:buChar char="ð"/>
            </a:pPr>
            <a:r>
              <a:rPr lang="fr-FR" dirty="0">
                <a:solidFill>
                  <a:schemeClr val="tx1"/>
                </a:solidFill>
                <a:latin typeface="Montserrat" panose="00000500000000000000" pitchFamily="2" charset="0"/>
              </a:rPr>
              <a:t>surveiller les stocks pour éviter les ruptures</a:t>
            </a:r>
          </a:p>
          <a:p>
            <a:pPr>
              <a:buFont typeface="Wingdings" panose="05000000000000000000" pitchFamily="2" charset="2"/>
              <a:buChar char="ð"/>
            </a:pPr>
            <a:r>
              <a:rPr lang="fr-FR" dirty="0">
                <a:solidFill>
                  <a:schemeClr val="tx1"/>
                </a:solidFill>
                <a:latin typeface="Montserrat" panose="00000500000000000000" pitchFamily="2" charset="0"/>
              </a:rPr>
              <a:t>suivre leur performance commerciale</a:t>
            </a:r>
          </a:p>
          <a:p>
            <a:pPr>
              <a:buNone/>
            </a:pPr>
            <a:br>
              <a:rPr lang="fr-FR" dirty="0">
                <a:solidFill>
                  <a:schemeClr val="tx1"/>
                </a:solidFill>
                <a:latin typeface="Montserrat" panose="00000500000000000000" pitchFamily="2" charset="0"/>
              </a:rPr>
            </a:br>
            <a:endParaRPr lang="fr-FR" dirty="0">
              <a:solidFill>
                <a:schemeClr val="tx1"/>
              </a:solidFill>
              <a:latin typeface="Montserrat" panose="00000500000000000000" pitchFamily="2" charset="0"/>
            </a:endParaRPr>
          </a:p>
          <a:p>
            <a:pPr>
              <a:buNone/>
            </a:pPr>
            <a:r>
              <a:rPr lang="fr-FR" b="1" dirty="0">
                <a:solidFill>
                  <a:schemeClr val="tx1"/>
                </a:solidFill>
                <a:latin typeface="Montserrat" panose="00000500000000000000" pitchFamily="2" charset="0"/>
              </a:rPr>
              <a:t>Optimiser la longue traîne</a:t>
            </a:r>
          </a:p>
          <a:p>
            <a:pPr>
              <a:buNone/>
            </a:pPr>
            <a:endParaRPr lang="fr-FR" sz="400" dirty="0">
              <a:solidFill>
                <a:schemeClr val="tx1"/>
              </a:solidFill>
              <a:latin typeface="Montserrat" panose="00000500000000000000" pitchFamily="2" charset="0"/>
            </a:endParaRPr>
          </a:p>
          <a:p>
            <a:pPr>
              <a:buNone/>
            </a:pPr>
            <a:r>
              <a:rPr lang="fr-FR" sz="1300" dirty="0">
                <a:solidFill>
                  <a:schemeClr val="tx1"/>
                </a:solidFill>
                <a:latin typeface="Montserrat" panose="00000500000000000000" pitchFamily="2" charset="0"/>
              </a:rPr>
              <a:t>Certaines références se vendent peu et restent longtemps en stock.</a:t>
            </a:r>
          </a:p>
          <a:p>
            <a:pPr>
              <a:buNone/>
            </a:pPr>
            <a:endParaRPr lang="fr-FR" sz="400" dirty="0">
              <a:solidFill>
                <a:schemeClr val="tx1"/>
              </a:solidFill>
              <a:latin typeface="Montserrat" panose="00000500000000000000" pitchFamily="2" charset="0"/>
            </a:endParaRPr>
          </a:p>
          <a:p>
            <a:pPr>
              <a:buNone/>
            </a:pPr>
            <a:endParaRPr lang="fr-FR" sz="400" dirty="0">
              <a:solidFill>
                <a:schemeClr val="tx1"/>
              </a:solidFill>
              <a:latin typeface="Montserrat" panose="00000500000000000000" pitchFamily="2" charset="0"/>
            </a:endParaRPr>
          </a:p>
          <a:p>
            <a:pPr>
              <a:buFont typeface="Wingdings" panose="05000000000000000000" pitchFamily="2" charset="2"/>
              <a:buChar char="ð"/>
            </a:pPr>
            <a:r>
              <a:rPr lang="fr-FR" dirty="0">
                <a:solidFill>
                  <a:schemeClr val="tx1"/>
                </a:solidFill>
                <a:latin typeface="Montserrat" panose="00000500000000000000" pitchFamily="2" charset="0"/>
              </a:rPr>
              <a:t>identifier les produits à rotation lente</a:t>
            </a:r>
          </a:p>
          <a:p>
            <a:pPr>
              <a:buFont typeface="Wingdings" panose="05000000000000000000" pitchFamily="2" charset="2"/>
              <a:buChar char="ð"/>
            </a:pPr>
            <a:r>
              <a:rPr lang="fr-FR" dirty="0">
                <a:solidFill>
                  <a:schemeClr val="tx1"/>
                </a:solidFill>
                <a:latin typeface="Montserrat" panose="00000500000000000000" pitchFamily="2" charset="0"/>
              </a:rPr>
              <a:t>ajuster les prix ou la visibilité</a:t>
            </a:r>
          </a:p>
          <a:p>
            <a:pPr>
              <a:buFont typeface="Wingdings" panose="05000000000000000000" pitchFamily="2" charset="2"/>
              <a:buChar char="ð"/>
            </a:pPr>
            <a:r>
              <a:rPr lang="fr-FR" dirty="0">
                <a:solidFill>
                  <a:schemeClr val="tx1"/>
                </a:solidFill>
                <a:latin typeface="Montserrat" panose="00000500000000000000" pitchFamily="2" charset="0"/>
              </a:rPr>
              <a:t>réduire les volumes d’achat si nécessaire</a:t>
            </a:r>
          </a:p>
          <a:p>
            <a:endParaRPr lang="fr-FR" dirty="0"/>
          </a:p>
        </p:txBody>
      </p:sp>
      <p:pic>
        <p:nvPicPr>
          <p:cNvPr id="4" name="Image 3">
            <a:extLst>
              <a:ext uri="{FF2B5EF4-FFF2-40B4-BE49-F238E27FC236}">
                <a16:creationId xmlns:a16="http://schemas.microsoft.com/office/drawing/2014/main" id="{804E498F-A003-45C7-1BD4-9BE5B332C53C}"/>
              </a:ext>
            </a:extLst>
          </p:cNvPr>
          <p:cNvPicPr>
            <a:picLocks noChangeAspect="1"/>
          </p:cNvPicPr>
          <p:nvPr/>
        </p:nvPicPr>
        <p:blipFill>
          <a:blip r:embed="rId3"/>
          <a:stretch>
            <a:fillRect/>
          </a:stretch>
        </p:blipFill>
        <p:spPr>
          <a:xfrm>
            <a:off x="8104592" y="4409750"/>
            <a:ext cx="920576" cy="634039"/>
          </a:xfrm>
          <a:prstGeom prst="rect">
            <a:avLst/>
          </a:prstGeom>
        </p:spPr>
      </p:pic>
    </p:spTree>
    <p:extLst>
      <p:ext uri="{BB962C8B-B14F-4D97-AF65-F5344CB8AC3E}">
        <p14:creationId xmlns:p14="http://schemas.microsoft.com/office/powerpoint/2010/main" val="1989570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F680157E-D919-1105-532E-C3748551950D}"/>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230B7AED-B3A1-19DD-983E-453CE65AE13B}"/>
              </a:ext>
            </a:extLst>
          </p:cNvPr>
          <p:cNvSpPr>
            <a:spLocks noGrp="1"/>
          </p:cNvSpPr>
          <p:nvPr>
            <p:ph type="body" idx="1"/>
          </p:nvPr>
        </p:nvSpPr>
        <p:spPr>
          <a:xfrm>
            <a:off x="1012175" y="209550"/>
            <a:ext cx="7713444" cy="4933950"/>
          </a:xfrm>
        </p:spPr>
        <p:txBody>
          <a:bodyPr>
            <a:normAutofit lnSpcReduction="10000"/>
          </a:bodyPr>
          <a:lstStyle/>
          <a:p>
            <a:pPr algn="ctr">
              <a:buNone/>
            </a:pPr>
            <a:r>
              <a:rPr lang="fr-FR" sz="1700" b="1" dirty="0">
                <a:solidFill>
                  <a:schemeClr val="tx1"/>
                </a:solidFill>
                <a:latin typeface="Montserrat" panose="00000500000000000000" pitchFamily="2" charset="0"/>
              </a:rPr>
              <a:t>📊 Amélioration de la gestion des données</a:t>
            </a:r>
          </a:p>
          <a:p>
            <a:pPr>
              <a:buNone/>
            </a:pPr>
            <a:endParaRPr lang="fr-FR" dirty="0">
              <a:solidFill>
                <a:schemeClr val="tx1"/>
              </a:solidFill>
              <a:latin typeface="Montserrat" panose="00000500000000000000" pitchFamily="2" charset="0"/>
            </a:endParaRPr>
          </a:p>
          <a:p>
            <a:pPr>
              <a:buNone/>
            </a:pPr>
            <a:r>
              <a:rPr lang="fr-FR" sz="1500" b="1" dirty="0">
                <a:solidFill>
                  <a:schemeClr val="tx1"/>
                </a:solidFill>
                <a:latin typeface="Montserrat" panose="00000500000000000000" pitchFamily="2" charset="0"/>
              </a:rPr>
              <a:t>Structurer les données pour faciliter les analyses</a:t>
            </a:r>
          </a:p>
          <a:p>
            <a:pPr>
              <a:buNone/>
            </a:pPr>
            <a:endParaRPr lang="fr-FR" sz="300" dirty="0">
              <a:solidFill>
                <a:schemeClr val="tx1"/>
              </a:solidFill>
              <a:latin typeface="Montserrat" panose="00000500000000000000" pitchFamily="2" charset="0"/>
            </a:endParaRPr>
          </a:p>
          <a:p>
            <a:pPr>
              <a:buNone/>
            </a:pPr>
            <a:r>
              <a:rPr lang="fr-FR" sz="1100" dirty="0">
                <a:solidFill>
                  <a:schemeClr val="tx1"/>
                </a:solidFill>
                <a:latin typeface="Montserrat" panose="00000500000000000000" pitchFamily="2" charset="0"/>
              </a:rPr>
              <a:t>Un nouveau fichier XLSX structuré et nettoyé a été créé afin de :</a:t>
            </a:r>
          </a:p>
          <a:p>
            <a:pPr>
              <a:buNone/>
            </a:pPr>
            <a:endParaRPr lang="fr-FR" sz="300" dirty="0">
              <a:solidFill>
                <a:schemeClr val="tx1"/>
              </a:solidFill>
              <a:latin typeface="Montserrat" panose="00000500000000000000" pitchFamily="2" charset="0"/>
            </a:endParaRPr>
          </a:p>
          <a:p>
            <a:pPr>
              <a:buNone/>
            </a:pPr>
            <a:r>
              <a:rPr lang="fr-FR" sz="1500" dirty="0">
                <a:solidFill>
                  <a:schemeClr val="tx1"/>
                </a:solidFill>
                <a:latin typeface="Montserrat" panose="00000500000000000000" pitchFamily="2" charset="0"/>
                <a:sym typeface="Wingdings" panose="05000000000000000000" pitchFamily="2" charset="2"/>
              </a:rPr>
              <a:t> </a:t>
            </a:r>
            <a:r>
              <a:rPr lang="fr-FR" sz="1500" dirty="0">
                <a:solidFill>
                  <a:schemeClr val="tx1"/>
                </a:solidFill>
                <a:latin typeface="Montserrat" panose="00000500000000000000" pitchFamily="2" charset="0"/>
              </a:rPr>
              <a:t>centraliser les données produits</a:t>
            </a:r>
          </a:p>
          <a:p>
            <a:pPr>
              <a:buNone/>
            </a:pPr>
            <a:r>
              <a:rPr lang="fr-FR" sz="1500" dirty="0">
                <a:solidFill>
                  <a:schemeClr val="tx1"/>
                </a:solidFill>
                <a:latin typeface="Montserrat" panose="00000500000000000000" pitchFamily="2" charset="0"/>
                <a:sym typeface="Wingdings" panose="05000000000000000000" pitchFamily="2" charset="2"/>
              </a:rPr>
              <a:t> </a:t>
            </a:r>
            <a:r>
              <a:rPr lang="fr-FR" sz="1500" dirty="0">
                <a:solidFill>
                  <a:schemeClr val="tx1"/>
                </a:solidFill>
                <a:latin typeface="Montserrat" panose="00000500000000000000" pitchFamily="2" charset="0"/>
              </a:rPr>
              <a:t>faciliter les analyses futures</a:t>
            </a:r>
          </a:p>
          <a:p>
            <a:pPr>
              <a:buNone/>
            </a:pPr>
            <a:br>
              <a:rPr lang="fr-FR" sz="1500" dirty="0">
                <a:solidFill>
                  <a:schemeClr val="tx1"/>
                </a:solidFill>
                <a:latin typeface="Montserrat" panose="00000500000000000000" pitchFamily="2" charset="0"/>
              </a:rPr>
            </a:br>
            <a:endParaRPr lang="fr-FR" sz="1500" dirty="0">
              <a:solidFill>
                <a:schemeClr val="tx1"/>
              </a:solidFill>
              <a:latin typeface="Montserrat" panose="00000500000000000000" pitchFamily="2" charset="0"/>
            </a:endParaRPr>
          </a:p>
          <a:p>
            <a:pPr>
              <a:buNone/>
            </a:pPr>
            <a:r>
              <a:rPr lang="fr-FR" sz="1500" b="1" dirty="0">
                <a:solidFill>
                  <a:schemeClr val="tx1"/>
                </a:solidFill>
                <a:latin typeface="Montserrat" panose="00000500000000000000" pitchFamily="2" charset="0"/>
              </a:rPr>
              <a:t>Standardiser la saisie des données</a:t>
            </a:r>
          </a:p>
          <a:p>
            <a:pPr>
              <a:buNone/>
            </a:pPr>
            <a:endParaRPr lang="fr-FR" sz="500" b="1" dirty="0">
              <a:solidFill>
                <a:schemeClr val="tx1"/>
              </a:solidFill>
              <a:latin typeface="Montserrat" panose="00000500000000000000" pitchFamily="2" charset="0"/>
            </a:endParaRPr>
          </a:p>
          <a:p>
            <a:pPr>
              <a:buNone/>
            </a:pPr>
            <a:r>
              <a:rPr lang="fr-FR" sz="1100" dirty="0">
                <a:solidFill>
                  <a:schemeClr val="tx1"/>
                </a:solidFill>
                <a:latin typeface="Montserrat" panose="00000500000000000000" pitchFamily="2" charset="0"/>
              </a:rPr>
              <a:t>Le nouveau format permet :</a:t>
            </a:r>
          </a:p>
          <a:p>
            <a:pPr>
              <a:buNone/>
            </a:pPr>
            <a:endParaRPr lang="fr-FR" sz="500" dirty="0">
              <a:solidFill>
                <a:schemeClr val="tx1"/>
              </a:solidFill>
              <a:latin typeface="Montserrat" panose="00000500000000000000" pitchFamily="2" charset="0"/>
            </a:endParaRPr>
          </a:p>
          <a:p>
            <a:pPr>
              <a:buFont typeface="Wingdings" panose="05000000000000000000" pitchFamily="2" charset="2"/>
              <a:buChar char="ð"/>
            </a:pPr>
            <a:r>
              <a:rPr lang="fr-FR" sz="1500" dirty="0">
                <a:solidFill>
                  <a:schemeClr val="tx1"/>
                </a:solidFill>
                <a:latin typeface="Montserrat" panose="00000500000000000000" pitchFamily="2" charset="0"/>
              </a:rPr>
              <a:t>d’éviter les incohérences de données</a:t>
            </a:r>
          </a:p>
          <a:p>
            <a:pPr>
              <a:buFont typeface="Wingdings" panose="05000000000000000000" pitchFamily="2" charset="2"/>
              <a:buChar char="ð"/>
            </a:pPr>
            <a:r>
              <a:rPr lang="fr-FR" sz="1500" dirty="0">
                <a:solidFill>
                  <a:schemeClr val="tx1"/>
                </a:solidFill>
                <a:latin typeface="Montserrat" panose="00000500000000000000" pitchFamily="2" charset="0"/>
              </a:rPr>
              <a:t>d’assurer un suivi plus fiable des ventes et des stocks</a:t>
            </a:r>
          </a:p>
          <a:p>
            <a:pPr>
              <a:buNone/>
            </a:pPr>
            <a:endParaRPr lang="fr-FR" sz="1500" b="1" dirty="0">
              <a:solidFill>
                <a:schemeClr val="tx1"/>
              </a:solidFill>
              <a:latin typeface="Montserrat" panose="00000500000000000000" pitchFamily="2" charset="0"/>
            </a:endParaRPr>
          </a:p>
          <a:p>
            <a:pPr>
              <a:buNone/>
            </a:pPr>
            <a:r>
              <a:rPr lang="fr-FR" sz="1500" b="1" dirty="0">
                <a:solidFill>
                  <a:schemeClr val="tx1"/>
                </a:solidFill>
                <a:latin typeface="Montserrat" panose="00000500000000000000" pitchFamily="2" charset="0"/>
              </a:rPr>
              <a:t>Mettre en place un suivi régulier</a:t>
            </a:r>
          </a:p>
          <a:p>
            <a:pPr>
              <a:buNone/>
            </a:pPr>
            <a:endParaRPr lang="fr-FR" sz="300" b="1" dirty="0">
              <a:solidFill>
                <a:schemeClr val="tx1"/>
              </a:solidFill>
              <a:latin typeface="Montserrat" panose="00000500000000000000" pitchFamily="2" charset="0"/>
            </a:endParaRPr>
          </a:p>
          <a:p>
            <a:pPr>
              <a:buNone/>
            </a:pPr>
            <a:r>
              <a:rPr lang="fr-FR" sz="1000" dirty="0">
                <a:solidFill>
                  <a:schemeClr val="tx1"/>
                </a:solidFill>
                <a:latin typeface="Montserrat" panose="00000500000000000000" pitchFamily="2" charset="0"/>
              </a:rPr>
              <a:t>Le fichier peut servir de base pour suivre :</a:t>
            </a:r>
          </a:p>
          <a:p>
            <a:pPr>
              <a:buNone/>
            </a:pPr>
            <a:endParaRPr lang="fr-FR" sz="300" dirty="0">
              <a:solidFill>
                <a:schemeClr val="tx1"/>
              </a:solidFill>
              <a:latin typeface="Montserrat" panose="00000500000000000000" pitchFamily="2" charset="0"/>
            </a:endParaRPr>
          </a:p>
          <a:p>
            <a:pPr>
              <a:buNone/>
            </a:pPr>
            <a:r>
              <a:rPr lang="fr-FR" sz="1500" dirty="0">
                <a:solidFill>
                  <a:schemeClr val="tx1"/>
                </a:solidFill>
                <a:latin typeface="Montserrat" panose="00000500000000000000" pitchFamily="2" charset="0"/>
                <a:sym typeface="Wingdings" panose="05000000000000000000" pitchFamily="2" charset="2"/>
              </a:rPr>
              <a:t>  </a:t>
            </a:r>
            <a:r>
              <a:rPr lang="fr-FR" sz="1500" dirty="0">
                <a:solidFill>
                  <a:schemeClr val="tx1"/>
                </a:solidFill>
                <a:latin typeface="Montserrat" panose="00000500000000000000" pitchFamily="2" charset="0"/>
              </a:rPr>
              <a:t>chiffre d’affaires par produit</a:t>
            </a:r>
          </a:p>
          <a:p>
            <a:pPr>
              <a:buNone/>
            </a:pPr>
            <a:r>
              <a:rPr lang="fr-FR" sz="1500" dirty="0">
                <a:solidFill>
                  <a:schemeClr val="tx1"/>
                </a:solidFill>
                <a:latin typeface="Montserrat" panose="00000500000000000000" pitchFamily="2" charset="0"/>
                <a:sym typeface="Wingdings" panose="05000000000000000000" pitchFamily="2" charset="2"/>
              </a:rPr>
              <a:t>  </a:t>
            </a:r>
            <a:r>
              <a:rPr lang="fr-FR" sz="1500" dirty="0">
                <a:solidFill>
                  <a:schemeClr val="tx1"/>
                </a:solidFill>
                <a:latin typeface="Montserrat" panose="00000500000000000000" pitchFamily="2" charset="0"/>
              </a:rPr>
              <a:t>rotation des stocks</a:t>
            </a:r>
          </a:p>
          <a:p>
            <a:pPr>
              <a:buNone/>
            </a:pPr>
            <a:r>
              <a:rPr lang="fr-FR" sz="1500" dirty="0">
                <a:solidFill>
                  <a:schemeClr val="tx1"/>
                </a:solidFill>
                <a:latin typeface="Montserrat" panose="00000500000000000000" pitchFamily="2" charset="0"/>
                <a:sym typeface="Wingdings" panose="05000000000000000000" pitchFamily="2" charset="2"/>
              </a:rPr>
              <a:t>  </a:t>
            </a:r>
            <a:r>
              <a:rPr lang="fr-FR" sz="1500" dirty="0">
                <a:solidFill>
                  <a:schemeClr val="tx1"/>
                </a:solidFill>
                <a:latin typeface="Montserrat" panose="00000500000000000000" pitchFamily="2" charset="0"/>
              </a:rPr>
              <a:t>performance du catalogue</a:t>
            </a:r>
          </a:p>
          <a:p>
            <a:endParaRPr lang="fr-FR" dirty="0"/>
          </a:p>
        </p:txBody>
      </p:sp>
      <p:pic>
        <p:nvPicPr>
          <p:cNvPr id="4" name="Image 3">
            <a:extLst>
              <a:ext uri="{FF2B5EF4-FFF2-40B4-BE49-F238E27FC236}">
                <a16:creationId xmlns:a16="http://schemas.microsoft.com/office/drawing/2014/main" id="{5C579B53-3228-D157-998A-0F02B70E1A9C}"/>
              </a:ext>
            </a:extLst>
          </p:cNvPr>
          <p:cNvPicPr>
            <a:picLocks noChangeAspect="1"/>
          </p:cNvPicPr>
          <p:nvPr/>
        </p:nvPicPr>
        <p:blipFill>
          <a:blip r:embed="rId3"/>
          <a:stretch>
            <a:fillRect/>
          </a:stretch>
        </p:blipFill>
        <p:spPr>
          <a:xfrm>
            <a:off x="8104592" y="4409750"/>
            <a:ext cx="920576" cy="634039"/>
          </a:xfrm>
          <a:prstGeom prst="rect">
            <a:avLst/>
          </a:prstGeom>
        </p:spPr>
      </p:pic>
    </p:spTree>
    <p:extLst>
      <p:ext uri="{BB962C8B-B14F-4D97-AF65-F5344CB8AC3E}">
        <p14:creationId xmlns:p14="http://schemas.microsoft.com/office/powerpoint/2010/main" val="2468064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13f9e8f1567_0_7"/>
          <p:cNvSpPr/>
          <p:nvPr/>
        </p:nvSpPr>
        <p:spPr>
          <a:xfrm>
            <a:off x="0" y="0"/>
            <a:ext cx="9144000" cy="1390200"/>
          </a:xfrm>
          <a:prstGeom prst="rect">
            <a:avLst/>
          </a:prstGeom>
          <a:solidFill>
            <a:srgbClr val="4D080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g13f9e8f1567_0_7"/>
          <p:cNvSpPr txBox="1"/>
          <p:nvPr/>
        </p:nvSpPr>
        <p:spPr>
          <a:xfrm>
            <a:off x="687707" y="320645"/>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1" dirty="0">
                <a:solidFill>
                  <a:srgbClr val="F3F3F3"/>
                </a:solidFill>
                <a:latin typeface="Montserrat"/>
                <a:ea typeface="Montserrat"/>
                <a:cs typeface="Montserrat"/>
                <a:sym typeface="Montserrat"/>
              </a:rPr>
              <a:t>Point sur les compétences apprises</a:t>
            </a:r>
            <a:endParaRPr b="1" dirty="0"/>
          </a:p>
        </p:txBody>
      </p:sp>
      <p:sp>
        <p:nvSpPr>
          <p:cNvPr id="105" name="Google Shape;105;g13f9e8f1567_0_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g13f9e8f1567_0_7"/>
          <p:cNvSpPr txBox="1">
            <a:spLocks noGrp="1"/>
          </p:cNvSpPr>
          <p:nvPr>
            <p:ph type="body" idx="1"/>
          </p:nvPr>
        </p:nvSpPr>
        <p:spPr>
          <a:xfrm>
            <a:off x="557274" y="1528600"/>
            <a:ext cx="8316000" cy="3294255"/>
          </a:xfrm>
          <a:prstGeom prst="rect">
            <a:avLst/>
          </a:prstGeom>
          <a:noFill/>
          <a:ln>
            <a:noFill/>
          </a:ln>
        </p:spPr>
        <p:txBody>
          <a:bodyPr spcFirstLastPara="1" wrap="square" lIns="91425" tIns="91425" rIns="91425" bIns="91425" anchor="t" anchorCtr="0">
            <a:normAutofit/>
          </a:bodyPr>
          <a:lstStyle/>
          <a:p>
            <a:pPr>
              <a:buNone/>
            </a:pPr>
            <a:r>
              <a:rPr lang="fr-FR" b="1" u="sng" dirty="0">
                <a:solidFill>
                  <a:srgbClr val="4D0801"/>
                </a:solidFill>
                <a:latin typeface="Montserrat" panose="00000500000000000000" pitchFamily="2" charset="0"/>
              </a:rPr>
              <a:t>Ce qui s’est bien passé</a:t>
            </a:r>
          </a:p>
          <a:p>
            <a:pPr>
              <a:buNone/>
            </a:pPr>
            <a:endParaRPr lang="fr-FR" sz="400" u="sng" dirty="0">
              <a:solidFill>
                <a:srgbClr val="4D0801"/>
              </a:solidFill>
              <a:latin typeface="Montserrat" panose="00000500000000000000" pitchFamily="2" charset="0"/>
            </a:endParaRPr>
          </a:p>
          <a:p>
            <a:pPr marL="114300" indent="0">
              <a:buNone/>
            </a:pPr>
            <a:r>
              <a:rPr lang="fr-FR" sz="1500" dirty="0">
                <a:solidFill>
                  <a:schemeClr val="tx1"/>
                </a:solidFill>
                <a:latin typeface="Montserrat" panose="00000500000000000000" pitchFamily="2" charset="0"/>
              </a:rPr>
              <a:t>Le nettoyage des données s’est globalement bien déroulé grâce à la trame méthodologique fournie, qui permet de suivre les étapes de façon structurée.</a:t>
            </a:r>
          </a:p>
          <a:p>
            <a:pPr marL="114300" indent="0">
              <a:buNone/>
            </a:pPr>
            <a:endParaRPr lang="fr-FR" sz="800" dirty="0">
              <a:solidFill>
                <a:schemeClr val="tx1"/>
              </a:solidFill>
              <a:latin typeface="Montserrat" panose="00000500000000000000" pitchFamily="2" charset="0"/>
            </a:endParaRPr>
          </a:p>
          <a:p>
            <a:pPr>
              <a:buNone/>
            </a:pPr>
            <a:r>
              <a:rPr lang="fr-FR" b="1" u="sng" dirty="0">
                <a:solidFill>
                  <a:srgbClr val="4D0801"/>
                </a:solidFill>
                <a:latin typeface="Montserrat" panose="00000500000000000000" pitchFamily="2" charset="0"/>
              </a:rPr>
              <a:t>Ce qui a été le plus difficile</a:t>
            </a:r>
          </a:p>
          <a:p>
            <a:pPr>
              <a:buNone/>
            </a:pPr>
            <a:endParaRPr lang="fr-FR" sz="400" u="sng" dirty="0">
              <a:solidFill>
                <a:srgbClr val="4D0801"/>
              </a:solidFill>
              <a:latin typeface="Montserrat" panose="00000500000000000000" pitchFamily="2" charset="0"/>
            </a:endParaRPr>
          </a:p>
          <a:p>
            <a:pPr marL="114300" indent="0">
              <a:buNone/>
            </a:pPr>
            <a:r>
              <a:rPr lang="fr-FR" sz="1500" dirty="0">
                <a:solidFill>
                  <a:schemeClr val="tx1"/>
                </a:solidFill>
                <a:latin typeface="Montserrat" panose="00000500000000000000" pitchFamily="2" charset="0"/>
              </a:rPr>
              <a:t>Prendre la décision de supprimer certaines données pour obtenir un jeu de données propre et exploitable.</a:t>
            </a:r>
          </a:p>
          <a:p>
            <a:pPr marL="114300" indent="0">
              <a:buNone/>
            </a:pPr>
            <a:endParaRPr lang="fr-FR" sz="800" dirty="0">
              <a:solidFill>
                <a:schemeClr val="tx1"/>
              </a:solidFill>
              <a:latin typeface="Montserrat" panose="00000500000000000000" pitchFamily="2" charset="0"/>
            </a:endParaRPr>
          </a:p>
          <a:p>
            <a:pPr>
              <a:buNone/>
            </a:pPr>
            <a:r>
              <a:rPr lang="fr-FR" b="1" u="sng" dirty="0">
                <a:solidFill>
                  <a:srgbClr val="4D0801"/>
                </a:solidFill>
                <a:latin typeface="Montserrat" panose="00000500000000000000" pitchFamily="2" charset="0"/>
              </a:rPr>
              <a:t>Axes de progression</a:t>
            </a:r>
          </a:p>
          <a:p>
            <a:pPr>
              <a:buNone/>
            </a:pPr>
            <a:endParaRPr lang="fr-FR" sz="400" u="sng" dirty="0">
              <a:solidFill>
                <a:srgbClr val="4D0801"/>
              </a:solidFill>
              <a:latin typeface="Montserrat" panose="00000500000000000000" pitchFamily="2" charset="0"/>
            </a:endParaRPr>
          </a:p>
          <a:p>
            <a:pPr marL="114300" indent="0">
              <a:buNone/>
            </a:pPr>
            <a:r>
              <a:rPr lang="fr-FR" sz="1500" dirty="0">
                <a:solidFill>
                  <a:schemeClr val="tx1"/>
                </a:solidFill>
                <a:latin typeface="Montserrat" panose="00000500000000000000" pitchFamily="2" charset="0"/>
              </a:rPr>
              <a:t>Gagner en autonomie dans la conduite complète d’un projet d’analyse de données, notamment dans la structuration des étapes sans trame prédéfinie.</a:t>
            </a:r>
          </a:p>
        </p:txBody>
      </p:sp>
      <p:pic>
        <p:nvPicPr>
          <p:cNvPr id="2" name="Image 1">
            <a:extLst>
              <a:ext uri="{FF2B5EF4-FFF2-40B4-BE49-F238E27FC236}">
                <a16:creationId xmlns:a16="http://schemas.microsoft.com/office/drawing/2014/main" id="{C920110C-209E-542E-36F2-6E2682202584}"/>
              </a:ext>
            </a:extLst>
          </p:cNvPr>
          <p:cNvPicPr>
            <a:picLocks noChangeAspect="1"/>
          </p:cNvPicPr>
          <p:nvPr/>
        </p:nvPicPr>
        <p:blipFill>
          <a:blip r:embed="rId3"/>
          <a:stretch>
            <a:fillRect/>
          </a:stretch>
        </p:blipFill>
        <p:spPr>
          <a:xfrm>
            <a:off x="8190173" y="4489230"/>
            <a:ext cx="920576" cy="634039"/>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720</TotalTime>
  <Words>1089</Words>
  <Application>Microsoft Office PowerPoint</Application>
  <PresentationFormat>Affichage à l'écran (16:9)</PresentationFormat>
  <Paragraphs>177</Paragraphs>
  <Slides>19</Slides>
  <Notes>12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19</vt:i4>
      </vt:variant>
    </vt:vector>
  </HeadingPairs>
  <TitlesOfParts>
    <vt:vector size="24" baseType="lpstr">
      <vt:lpstr>Wingdings</vt:lpstr>
      <vt:lpstr>Arial</vt:lpstr>
      <vt:lpstr>Wingdings 3</vt:lpstr>
      <vt:lpstr>Montserrat</vt:lpstr>
      <vt:lpstr>Simple Light</vt:lpstr>
      <vt:lpstr>Présentation PowerPoint</vt:lpstr>
      <vt:lpstr>Présentation PowerPoint</vt:lpstr>
      <vt:lpstr>Présentation PowerPoint</vt:lpstr>
      <vt:lpstr>Présentation PowerPoint</vt:lpstr>
      <vt:lpstr>Présentation PowerPoint</vt:lpstr>
      <vt:lpstr>Présentation PowerPoint</vt:lpstr>
      <vt:lpstr>Analyse univariée des prix des bouteilles</vt:lpstr>
      <vt:lpstr>Présentation PowerPoint</vt:lpstr>
      <vt:lpstr>Analyse du chiffre d’affaires du site web</vt:lpstr>
      <vt:lpstr>Top 20 des vins les plus vendus (en nombre de bouteilles)</vt:lpstr>
      <vt:lpstr>Top 20 des vins avec la durée de stockage la plus élevée</vt:lpstr>
      <vt:lpstr>Analyse du taux de marge</vt:lpstr>
      <vt:lpstr>Analyse des corrélations entre prix, ventes et stocks</vt:lpstr>
      <vt:lpstr>Structure du catalogue et contribution au chiffre d’affaires  Analyse Pareto </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Sarah BLONDEL</dc:creator>
  <cp:lastModifiedBy>Sarah BLONDEL</cp:lastModifiedBy>
  <cp:revision>2</cp:revision>
  <dcterms:modified xsi:type="dcterms:W3CDTF">2026-03-11T12:41:22Z</dcterms:modified>
</cp:coreProperties>
</file>